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once, first. The client name and date come from the deck input file, the presenter from people.json. If the client name still reads as a TODO token, the deck is not ready to present; fix the input and rebuild rather than typing over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to five lines. The agenda is the promise of the meeting; if a line is not going to be covered, remove it in the input file. Numbers are set in tabular figures so the list aligns even if you add a sixth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breath between parts. One line, nothing else. Use it before the comparison and before the recommendation; do not use it more than three times in a deck or it stops reading as 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the deck exists for. Figures are illustrative until real quotes are entered; replace the whole table from the quote sheet, never a single cell. Keep carriers anonymous as A, B, C until appointments are confirmed in writing. Current policy stays the highlighted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Statutory minimums with their source lines. Every figure here is read from content/state-facts.json, which records the statute, the URL and the date verified; do not type a number on this slide. Utah's limits changed on 1 January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recommendation, the math shown. The third option, keeping what you have, is always visible; say it out loud when it is the right answer. If the math needs more than three lines the recommendation is not clear enough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columns, what is covered and what is not. Read the second column with as much care as the first; it is where claims are lost. Do not soften exclusions with adjectives; the words on this slide are the policy's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at most, each with an owner and a date. If a step has no date it is not a step. This is the last content slide; the disclosure follows and is never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Required last-but-one slide. The independent-agency line, the licensed states and numbers, and the TPMO disclaimer when Medicare appears anywhere in the deck are generated, not typed. If this slide is missing the build has failed; do not present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 details from people.json. Phone and licence numbers appear as TODO tokens until the client supplies them; a token on screen means the deck was built before the data arrived, which is a signal to the room, not an embarrassment to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AF4EC"/>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p:bg>
      <p:bgPr>
        <a:solidFill>
          <a:srgbClr val="FAF4EC"/>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rtlCol="0" anchor="ctr"/>
          <a:lstStyle/>
          <a:p>
            <a:pPr indent="0" marL="0">
              <a:buNone/>
            </a:pPr>
            <a:endParaRPr lang="en-US" dirty="0"/>
          </a:p>
        </p:txBody>
      </p:sp>
      <p:pic>
        <p:nvPicPr>
          <p:cNvPr id="3" name="Image 0" descr="/home/abuhaithem/Documents/dellisandassociates/desert-peak-brand/web/logos/mark@2x.png">    </p:cNvPr>
          <p:cNvPicPr>
            <a:picLocks noChangeAspect="1"/>
          </p:cNvPicPr>
          <p:nvPr/>
        </p:nvPicPr>
        <p:blipFill>
          <a:blip r:embed="rId1"/>
          <a:stretch>
            <a:fillRect/>
          </a:stretch>
        </p:blipFill>
        <p:spPr>
          <a:xfrm>
            <a:off x="548640" y="6355080"/>
            <a:ext cx="393192" cy="36576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MPARISON">
    <p:bg>
      <p:bgPr>
        <a:solidFill>
          <a:srgbClr val="FAF4EC"/>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rtlCol="0" anchor="ctr"/>
          <a:lstStyle/>
          <a:p>
            <a:pPr indent="0" marL="0">
              <a:buNone/>
            </a:pPr>
            <a:endParaRPr lang="en-US" dirty="0"/>
          </a:p>
        </p:txBody>
      </p:sp>
      <p:pic>
        <p:nvPicPr>
          <p:cNvPr id="3" name="Image 0" descr="/home/abuhaithem/Documents/dellisandassociates/desert-peak-brand/web/logos/mark@2x.png">    </p:cNvPr>
          <p:cNvPicPr>
            <a:picLocks noChangeAspect="1"/>
          </p:cNvPicPr>
          <p:nvPr/>
        </p:nvPicPr>
        <p:blipFill>
          <a:blip r:embed="rId1"/>
          <a:stretch>
            <a:fillRect/>
          </a:stretch>
        </p:blipFill>
        <p:spPr>
          <a:xfrm>
            <a:off x="548640" y="6355080"/>
            <a:ext cx="393192" cy="36576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
    <p:bg>
      <p:bgPr>
        <a:solidFill>
          <a:srgbClr val="FAF4EC"/>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rtlCol="0" anchor="ctr"/>
          <a:lstStyle/>
          <a:p>
            <a:pPr indent="0" marL="0">
              <a:buNone/>
            </a:pPr>
            <a:endParaRPr lang="en-US" dirty="0"/>
          </a:p>
        </p:txBody>
      </p:sp>
      <p:pic>
        <p:nvPicPr>
          <p:cNvPr id="3" name="Image 0" descr="/home/abuhaithem/Documents/dellisandassociates/desert-peak-brand/web/logos/mark@2x.png">    </p:cNvPr>
          <p:cNvPicPr>
            <a:picLocks noChangeAspect="1"/>
          </p:cNvPicPr>
          <p:nvPr/>
        </p:nvPicPr>
        <p:blipFill>
          <a:blip r:embed="rId1"/>
          <a:stretch>
            <a:fillRect/>
          </a:stretch>
        </p:blipFill>
        <p:spPr>
          <a:xfrm>
            <a:off x="548640" y="6355080"/>
            <a:ext cx="393192" cy="36576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FINDING">
    <p:bg>
      <p:bgPr>
        <a:solidFill>
          <a:srgbClr val="FAF4EC"/>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rtlCol="0" anchor="ctr"/>
          <a:lstStyle/>
          <a:p>
            <a:pPr indent="0" marL="0">
              <a:buNone/>
            </a:pPr>
            <a:endParaRPr lang="en-US" dirty="0"/>
          </a:p>
        </p:txBody>
      </p:sp>
      <p:pic>
        <p:nvPicPr>
          <p:cNvPr id="3" name="Image 0" descr="/home/abuhaithem/Documents/dellisandassociates/desert-peak-brand/web/logos/mark@2x.png">    </p:cNvPr>
          <p:cNvPicPr>
            <a:picLocks noChangeAspect="1"/>
          </p:cNvPicPr>
          <p:nvPr/>
        </p:nvPicPr>
        <p:blipFill>
          <a:blip r:embed="rId1"/>
          <a:stretch>
            <a:fillRect/>
          </a:stretch>
        </p:blipFill>
        <p:spPr>
          <a:xfrm>
            <a:off x="548640" y="6355080"/>
            <a:ext cx="393192" cy="36576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AGE">
    <p:bg>
      <p:bgPr>
        <a:solidFill>
          <a:srgbClr val="FAF4EC"/>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rtlCol="0" anchor="ctr"/>
          <a:lstStyle/>
          <a:p>
            <a:pPr indent="0" marL="0">
              <a:buNone/>
            </a:pPr>
            <a:endParaRPr lang="en-US" dirty="0"/>
          </a:p>
        </p:txBody>
      </p:sp>
      <p:pic>
        <p:nvPicPr>
          <p:cNvPr id="3" name="Image 0" descr="/home/abuhaithem/Documents/dellisandassociates/desert-peak-brand/web/logos/mark@2x.png">    </p:cNvPr>
          <p:cNvPicPr>
            <a:picLocks noChangeAspect="1"/>
          </p:cNvPicPr>
          <p:nvPr/>
        </p:nvPicPr>
        <p:blipFill>
          <a:blip r:embed="rId1"/>
          <a:stretch>
            <a:fillRect/>
          </a:stretch>
        </p:blipFill>
        <p:spPr>
          <a:xfrm>
            <a:off x="548640" y="6355080"/>
            <a:ext cx="393192" cy="36576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NEXT">
    <p:bg>
      <p:bgPr>
        <a:solidFill>
          <a:srgbClr val="FAF4EC"/>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rtlCol="0" anchor="ctr"/>
          <a:lstStyle/>
          <a:p>
            <a:pPr indent="0" marL="0">
              <a:buNone/>
            </a:pPr>
            <a:endParaRPr lang="en-US" dirty="0"/>
          </a:p>
        </p:txBody>
      </p:sp>
      <p:pic>
        <p:nvPicPr>
          <p:cNvPr id="3" name="Image 0" descr="/home/abuhaithem/Documents/dellisandassociates/desert-peak-brand/web/logos/mark@2x.png">    </p:cNvPr>
          <p:cNvPicPr>
            <a:picLocks noChangeAspect="1"/>
          </p:cNvPicPr>
          <p:nvPr/>
        </p:nvPicPr>
        <p:blipFill>
          <a:blip r:embed="rId1"/>
          <a:stretch>
            <a:fillRect/>
          </a:stretch>
        </p:blipFill>
        <p:spPr>
          <a:xfrm>
            <a:off x="548640" y="6355080"/>
            <a:ext cx="393192" cy="36576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SCLOSURE">
    <p:bg>
      <p:bgPr>
        <a:solidFill>
          <a:srgbClr val="FAF4EC"/>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rtlCol="0" anchor="ctr"/>
          <a:lstStyle/>
          <a:p>
            <a:pPr indent="0" marL="0">
              <a:buNone/>
            </a:pPr>
            <a:endParaRPr lang="en-US" dirty="0"/>
          </a:p>
        </p:txBody>
      </p:sp>
      <p:pic>
        <p:nvPicPr>
          <p:cNvPr id="3" name="Image 0" descr="/home/abuhaithem/Documents/dellisandassociates/desert-peak-brand/web/logos/mark@2x.png">    </p:cNvPr>
          <p:cNvPicPr>
            <a:picLocks noChangeAspect="1"/>
          </p:cNvPicPr>
          <p:nvPr/>
        </p:nvPicPr>
        <p:blipFill>
          <a:blip r:embed="rId1"/>
          <a:stretch>
            <a:fillRect/>
          </a:stretch>
        </p:blipFill>
        <p:spPr>
          <a:xfrm>
            <a:off x="548640" y="6355080"/>
            <a:ext cx="393192" cy="36576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ACT">
    <p:bg>
      <p:bgPr>
        <a:solidFill>
          <a:srgbClr val="FAF4EC"/>
        </a:solidFill>
      </p:bgPr>
    </p:bg>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rtlCol="0" anchor="ctr"/>
          <a:lstStyle/>
          <a:p>
            <a:pPr indent="0" marL="0">
              <a:buNone/>
            </a:pPr>
            <a:endParaRPr lang="en-US" dirty="0"/>
          </a:p>
        </p:txBody>
      </p:sp>
      <p:pic>
        <p:nvPicPr>
          <p:cNvPr id="3" name="Image 0" descr="/home/abuhaithem/Documents/dellisandassociates/desert-peak-brand/web/logos/mark@2x.png">    </p:cNvPr>
          <p:cNvPicPr>
            <a:picLocks noChangeAspect="1"/>
          </p:cNvPicPr>
          <p:nvPr/>
        </p:nvPicPr>
        <p:blipFill>
          <a:blip r:embed="rId1"/>
          <a:stretch>
            <a:fillRect/>
          </a:stretch>
        </p:blipFill>
        <p:spPr>
          <a:xfrm>
            <a:off x="548640" y="6355080"/>
            <a:ext cx="393192" cy="36576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p:bg>
      <p:bgPr>
        <a:solidFill>
          <a:srgbClr val="110F0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0.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abuhaithem/Documents/dellisandassociates/desert-peak-brand/web/logos/logo-horizontal@2x.png">    </p:cNvPr>
          <p:cNvPicPr>
            <a:picLocks noChangeAspect="1"/>
          </p:cNvPicPr>
          <p:nvPr/>
        </p:nvPicPr>
        <p:blipFill>
          <a:blip r:embed="rId1"/>
          <a:stretch>
            <a:fillRect/>
          </a:stretch>
        </p:blipFill>
        <p:spPr>
          <a:xfrm>
            <a:off x="548640" y="640080"/>
            <a:ext cx="3108960" cy="548640"/>
          </a:xfrm>
          <a:prstGeom prst="rect">
            <a:avLst/>
          </a:prstGeom>
        </p:spPr>
      </p:pic>
      <p:sp>
        <p:nvSpPr>
          <p:cNvPr id="3" name="Text 0"/>
          <p:cNvSpPr/>
          <p:nvPr/>
        </p:nvSpPr>
        <p:spPr>
          <a:xfrm>
            <a:off x="548640" y="2377440"/>
            <a:ext cx="11094415" cy="1097280"/>
          </a:xfrm>
          <a:prstGeom prst="rect">
            <a:avLst/>
          </a:prstGeom>
          <a:noFill/>
          <a:ln/>
        </p:spPr>
        <p:txBody>
          <a:bodyPr wrap="square" lIns="0" tIns="0" rIns="0" bIns="0" rtlCol="0" anchor="ctr"/>
          <a:lstStyle/>
          <a:p>
            <a:pPr indent="0" marL="0">
              <a:buNone/>
            </a:pPr>
            <a:r>
              <a:rPr lang="en-US" sz="4400" b="1" dirty="0">
                <a:solidFill>
                  <a:srgbClr val="221F1A"/>
                </a:solidFill>
                <a:latin typeface="Archivo" pitchFamily="34" charset="0"/>
                <a:ea typeface="Archivo" pitchFamily="34" charset="-122"/>
                <a:cs typeface="Archivo" pitchFamily="34" charset="-120"/>
              </a:rPr>
              <a:t>Partner meeting</a:t>
            </a:r>
            <a:endParaRPr lang="en-US" sz="4400" dirty="0"/>
          </a:p>
        </p:txBody>
      </p:sp>
      <p:sp>
        <p:nvSpPr>
          <p:cNvPr id="4" name="Text 1"/>
          <p:cNvSpPr/>
          <p:nvPr/>
        </p:nvSpPr>
        <p:spPr>
          <a:xfrm>
            <a:off x="548640" y="3474720"/>
            <a:ext cx="7766091" cy="822960"/>
          </a:xfrm>
          <a:prstGeom prst="rect">
            <a:avLst/>
          </a:prstGeom>
          <a:noFill/>
          <a:ln/>
        </p:spPr>
        <p:txBody>
          <a:bodyPr wrap="square" lIns="0" tIns="0" rIns="0" bIns="0" rtlCol="0" anchor="ctr"/>
          <a:lstStyle/>
          <a:p>
            <a:pPr indent="0" marL="0">
              <a:buNone/>
            </a:pPr>
            <a:r>
              <a:rPr lang="en-US" sz="2000" dirty="0">
                <a:solidFill>
                  <a:srgbClr val="605A52"/>
                </a:solidFill>
                <a:latin typeface="Source Serif 4" pitchFamily="34" charset="0"/>
                <a:ea typeface="Source Serif 4" pitchFamily="34" charset="-122"/>
                <a:cs typeface="Source Serif 4" pitchFamily="34" charset="-120"/>
              </a:rPr>
              <a:t>How Desert Peak works with referring partners</a:t>
            </a:r>
            <a:endParaRPr lang="en-US" sz="2000" dirty="0"/>
          </a:p>
        </p:txBody>
      </p:sp>
      <p:sp>
        <p:nvSpPr>
          <p:cNvPr id="5" name="Shape 2"/>
          <p:cNvSpPr/>
          <p:nvPr/>
        </p:nvSpPr>
        <p:spPr>
          <a:xfrm>
            <a:off x="548640" y="4754880"/>
            <a:ext cx="914400" cy="36576"/>
          </a:xfrm>
          <a:prstGeom prst="rect">
            <a:avLst/>
          </a:prstGeom>
          <a:solidFill>
            <a:srgbClr val="923D28"/>
          </a:solidFill>
          <a:ln w="12700">
            <a:solidFill>
              <a:srgbClr val="923D28"/>
            </a:solidFill>
            <a:prstDash val="solid"/>
          </a:ln>
        </p:spPr>
      </p:sp>
      <p:sp>
        <p:nvSpPr>
          <p:cNvPr id="6" name="Text 3"/>
          <p:cNvSpPr/>
          <p:nvPr/>
        </p:nvSpPr>
        <p:spPr>
          <a:xfrm>
            <a:off x="548640" y="4983480"/>
            <a:ext cx="11094415" cy="274320"/>
          </a:xfrm>
          <a:prstGeom prst="rect">
            <a:avLst/>
          </a:prstGeom>
          <a:noFill/>
          <a:ln/>
        </p:spPr>
        <p:txBody>
          <a:bodyPr wrap="square" lIns="0" tIns="0" rIns="0" bIns="0" rtlCol="0" anchor="t"/>
          <a:lstStyle/>
          <a:p>
            <a:pPr indent="0" marL="0">
              <a:buNone/>
            </a:pPr>
            <a:r>
              <a:rPr lang="en-US" sz="1300" dirty="0">
                <a:solidFill>
                  <a:srgbClr val="221F1A"/>
                </a:solidFill>
                <a:latin typeface="Archivo" pitchFamily="34" charset="0"/>
                <a:ea typeface="Archivo" pitchFamily="34" charset="-122"/>
                <a:cs typeface="Archivo" pitchFamily="34" charset="-120"/>
              </a:rPr>
              <a:t>Prepared for {{TODO:partner.name}}</a:t>
            </a:r>
            <a:endParaRPr lang="en-US" sz="1300" dirty="0"/>
          </a:p>
        </p:txBody>
      </p:sp>
      <p:sp>
        <p:nvSpPr>
          <p:cNvPr id="7" name="Text 4"/>
          <p:cNvSpPr/>
          <p:nvPr/>
        </p:nvSpPr>
        <p:spPr>
          <a:xfrm>
            <a:off x="548640" y="5303520"/>
            <a:ext cx="11094415" cy="274320"/>
          </a:xfrm>
          <a:prstGeom prst="rect">
            <a:avLst/>
          </a:prstGeom>
          <a:noFill/>
          <a:ln/>
        </p:spPr>
        <p:txBody>
          <a:bodyPr wrap="square" lIns="0" tIns="0" rIns="0" bIns="0" rtlCol="0" anchor="t"/>
          <a:lstStyle/>
          <a:p>
            <a:pPr indent="0" marL="0">
              <a:buNone/>
            </a:pPr>
            <a:r>
              <a:rPr lang="en-US" sz="1300" dirty="0">
                <a:solidFill>
                  <a:srgbClr val="605A52"/>
                </a:solidFill>
                <a:latin typeface="Archivo" pitchFamily="34" charset="0"/>
                <a:ea typeface="Archivo" pitchFamily="34" charset="-122"/>
                <a:cs typeface="Archivo" pitchFamily="34" charset="-120"/>
              </a:rPr>
              <a:t>{{TODO:meeting.date}}  ·  Daniel {{TODO:people.daniel.lastName}}, Principal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t"/>
          <a:lstStyle/>
          <a:p>
            <a:pPr indent="0" marL="0">
              <a:buNone/>
            </a:pPr>
            <a:r>
              <a:rPr lang="en-US" sz="3000" b="1" dirty="0">
                <a:solidFill>
                  <a:srgbClr val="221F1A"/>
                </a:solidFill>
                <a:latin typeface="Archivo" pitchFamily="34" charset="0"/>
                <a:ea typeface="Archivo" pitchFamily="34" charset="-122"/>
                <a:cs typeface="Archivo" pitchFamily="34" charset="-120"/>
              </a:rPr>
              <a:t>Agenda</a:t>
            </a:r>
            <a:endParaRPr lang="en-US" sz="3000" dirty="0"/>
          </a:p>
        </p:txBody>
      </p:sp>
      <p:sp>
        <p:nvSpPr>
          <p:cNvPr id="3" name="Shape 1"/>
          <p:cNvSpPr/>
          <p:nvPr/>
        </p:nvSpPr>
        <p:spPr>
          <a:xfrm>
            <a:off x="548640" y="1216152"/>
            <a:ext cx="914400" cy="36576"/>
          </a:xfrm>
          <a:prstGeom prst="rect">
            <a:avLst/>
          </a:prstGeom>
          <a:solidFill>
            <a:srgbClr val="923D28"/>
          </a:solidFill>
          <a:ln w="12700">
            <a:solidFill>
              <a:srgbClr val="923D28"/>
            </a:solidFill>
            <a:prstDash val="solid"/>
          </a:ln>
        </p:spPr>
      </p:sp>
      <p:sp>
        <p:nvSpPr>
          <p:cNvPr id="4" name="Text 2"/>
          <p:cNvSpPr/>
          <p:nvPr/>
        </p:nvSpPr>
        <p:spPr>
          <a:xfrm>
            <a:off x="548640" y="1600200"/>
            <a:ext cx="548640" cy="457200"/>
          </a:xfrm>
          <a:prstGeom prst="rect">
            <a:avLst/>
          </a:prstGeom>
          <a:noFill/>
          <a:ln/>
        </p:spPr>
        <p:txBody>
          <a:bodyPr wrap="square" lIns="0" tIns="0" rIns="0" bIns="0" rtlCol="0" anchor="ctr"/>
          <a:lstStyle/>
          <a:p>
            <a:pPr indent="0" marL="0">
              <a:buNone/>
            </a:pPr>
            <a:r>
              <a:rPr lang="en-US" sz="1600" b="1" dirty="0">
                <a:solidFill>
                  <a:srgbClr val="923D28"/>
                </a:solidFill>
                <a:latin typeface="Archivo" pitchFamily="34" charset="0"/>
                <a:ea typeface="Archivo" pitchFamily="34" charset="-122"/>
                <a:cs typeface="Archivo" pitchFamily="34" charset="-120"/>
              </a:rPr>
              <a:t>01</a:t>
            </a:r>
            <a:endParaRPr lang="en-US" sz="1600" dirty="0"/>
          </a:p>
        </p:txBody>
      </p:sp>
      <p:sp>
        <p:nvSpPr>
          <p:cNvPr id="5" name="Text 3"/>
          <p:cNvSpPr/>
          <p:nvPr/>
        </p:nvSpPr>
        <p:spPr>
          <a:xfrm>
            <a:off x="1188720" y="1600200"/>
            <a:ext cx="10454335" cy="457200"/>
          </a:xfrm>
          <a:prstGeom prst="rect">
            <a:avLst/>
          </a:prstGeom>
          <a:noFill/>
          <a:ln/>
        </p:spPr>
        <p:txBody>
          <a:bodyPr wrap="square" lIns="0" tIns="0" rIns="0" bIns="0" rtlCol="0" anchor="t"/>
          <a:lstStyle/>
          <a:p>
            <a:pPr indent="0" marL="0">
              <a:buNone/>
            </a:pPr>
            <a:r>
              <a:rPr lang="en-US" sz="1900" dirty="0">
                <a:solidFill>
                  <a:srgbClr val="221F1A"/>
                </a:solidFill>
                <a:latin typeface="Source Serif 4" pitchFamily="34" charset="0"/>
                <a:ea typeface="Source Serif 4" pitchFamily="34" charset="-122"/>
                <a:cs typeface="Source Serif 4" pitchFamily="34" charset="-120"/>
              </a:rPr>
              <a:t>Who we are and where we are licensed</a:t>
            </a:r>
            <a:endParaRPr lang="en-US" sz="1900" dirty="0"/>
          </a:p>
        </p:txBody>
      </p:sp>
      <p:sp>
        <p:nvSpPr>
          <p:cNvPr id="6" name="Text 4"/>
          <p:cNvSpPr/>
          <p:nvPr/>
        </p:nvSpPr>
        <p:spPr>
          <a:xfrm>
            <a:off x="548640" y="2167128"/>
            <a:ext cx="548640" cy="457200"/>
          </a:xfrm>
          <a:prstGeom prst="rect">
            <a:avLst/>
          </a:prstGeom>
          <a:noFill/>
          <a:ln/>
        </p:spPr>
        <p:txBody>
          <a:bodyPr wrap="square" lIns="0" tIns="0" rIns="0" bIns="0" rtlCol="0" anchor="ctr"/>
          <a:lstStyle/>
          <a:p>
            <a:pPr indent="0" marL="0">
              <a:buNone/>
            </a:pPr>
            <a:r>
              <a:rPr lang="en-US" sz="1600" b="1" dirty="0">
                <a:solidFill>
                  <a:srgbClr val="923D28"/>
                </a:solidFill>
                <a:latin typeface="Archivo" pitchFamily="34" charset="0"/>
                <a:ea typeface="Archivo" pitchFamily="34" charset="-122"/>
                <a:cs typeface="Archivo" pitchFamily="34" charset="-120"/>
              </a:rPr>
              <a:t>02</a:t>
            </a:r>
            <a:endParaRPr lang="en-US" sz="1600" dirty="0"/>
          </a:p>
        </p:txBody>
      </p:sp>
      <p:sp>
        <p:nvSpPr>
          <p:cNvPr id="7" name="Text 5"/>
          <p:cNvSpPr/>
          <p:nvPr/>
        </p:nvSpPr>
        <p:spPr>
          <a:xfrm>
            <a:off x="1188720" y="2167128"/>
            <a:ext cx="10454335" cy="457200"/>
          </a:xfrm>
          <a:prstGeom prst="rect">
            <a:avLst/>
          </a:prstGeom>
          <a:noFill/>
          <a:ln/>
        </p:spPr>
        <p:txBody>
          <a:bodyPr wrap="square" lIns="0" tIns="0" rIns="0" bIns="0" rtlCol="0" anchor="t"/>
          <a:lstStyle/>
          <a:p>
            <a:pPr indent="0" marL="0">
              <a:buNone/>
            </a:pPr>
            <a:r>
              <a:rPr lang="en-US" sz="1900" dirty="0">
                <a:solidFill>
                  <a:srgbClr val="221F1A"/>
                </a:solidFill>
                <a:latin typeface="Source Serif 4" pitchFamily="34" charset="0"/>
                <a:ea typeface="Source Serif 4" pitchFamily="34" charset="-122"/>
                <a:cs typeface="Source Serif 4" pitchFamily="34" charset="-120"/>
              </a:rPr>
              <a:t>How a referral is handled</a:t>
            </a:r>
            <a:endParaRPr lang="en-US" sz="1900" dirty="0"/>
          </a:p>
        </p:txBody>
      </p:sp>
      <p:sp>
        <p:nvSpPr>
          <p:cNvPr id="8" name="Text 6"/>
          <p:cNvSpPr/>
          <p:nvPr/>
        </p:nvSpPr>
        <p:spPr>
          <a:xfrm>
            <a:off x="548640" y="2734056"/>
            <a:ext cx="548640" cy="457200"/>
          </a:xfrm>
          <a:prstGeom prst="rect">
            <a:avLst/>
          </a:prstGeom>
          <a:noFill/>
          <a:ln/>
        </p:spPr>
        <p:txBody>
          <a:bodyPr wrap="square" lIns="0" tIns="0" rIns="0" bIns="0" rtlCol="0" anchor="ctr"/>
          <a:lstStyle/>
          <a:p>
            <a:pPr indent="0" marL="0">
              <a:buNone/>
            </a:pPr>
            <a:r>
              <a:rPr lang="en-US" sz="1600" b="1" dirty="0">
                <a:solidFill>
                  <a:srgbClr val="923D28"/>
                </a:solidFill>
                <a:latin typeface="Archivo" pitchFamily="34" charset="0"/>
                <a:ea typeface="Archivo" pitchFamily="34" charset="-122"/>
                <a:cs typeface="Archivo" pitchFamily="34" charset="-120"/>
              </a:rPr>
              <a:t>03</a:t>
            </a:r>
            <a:endParaRPr lang="en-US" sz="1600" dirty="0"/>
          </a:p>
        </p:txBody>
      </p:sp>
      <p:sp>
        <p:nvSpPr>
          <p:cNvPr id="9" name="Text 7"/>
          <p:cNvSpPr/>
          <p:nvPr/>
        </p:nvSpPr>
        <p:spPr>
          <a:xfrm>
            <a:off x="1188720" y="2734056"/>
            <a:ext cx="10454335" cy="457200"/>
          </a:xfrm>
          <a:prstGeom prst="rect">
            <a:avLst/>
          </a:prstGeom>
          <a:noFill/>
          <a:ln/>
        </p:spPr>
        <p:txBody>
          <a:bodyPr wrap="square" lIns="0" tIns="0" rIns="0" bIns="0" rtlCol="0" anchor="t"/>
          <a:lstStyle/>
          <a:p>
            <a:pPr indent="0" marL="0">
              <a:buNone/>
            </a:pPr>
            <a:r>
              <a:rPr lang="en-US" sz="1900" dirty="0">
                <a:solidFill>
                  <a:srgbClr val="221F1A"/>
                </a:solidFill>
                <a:latin typeface="Source Serif 4" pitchFamily="34" charset="0"/>
                <a:ea typeface="Source Serif 4" pitchFamily="34" charset="-122"/>
                <a:cs typeface="Source Serif 4" pitchFamily="34" charset="-120"/>
              </a:rPr>
              <a:t>What a coverage review looks like</a:t>
            </a:r>
            <a:endParaRPr lang="en-US" sz="1900" dirty="0"/>
          </a:p>
        </p:txBody>
      </p:sp>
      <p:sp>
        <p:nvSpPr>
          <p:cNvPr id="10" name="Text 8"/>
          <p:cNvSpPr/>
          <p:nvPr/>
        </p:nvSpPr>
        <p:spPr>
          <a:xfrm>
            <a:off x="548640" y="3300984"/>
            <a:ext cx="548640" cy="457200"/>
          </a:xfrm>
          <a:prstGeom prst="rect">
            <a:avLst/>
          </a:prstGeom>
          <a:noFill/>
          <a:ln/>
        </p:spPr>
        <p:txBody>
          <a:bodyPr wrap="square" lIns="0" tIns="0" rIns="0" bIns="0" rtlCol="0" anchor="ctr"/>
          <a:lstStyle/>
          <a:p>
            <a:pPr indent="0" marL="0">
              <a:buNone/>
            </a:pPr>
            <a:r>
              <a:rPr lang="en-US" sz="1600" b="1" dirty="0">
                <a:solidFill>
                  <a:srgbClr val="923D28"/>
                </a:solidFill>
                <a:latin typeface="Archivo" pitchFamily="34" charset="0"/>
                <a:ea typeface="Archivo" pitchFamily="34" charset="-122"/>
                <a:cs typeface="Archivo" pitchFamily="34" charset="-120"/>
              </a:rPr>
              <a:t>04</a:t>
            </a:r>
            <a:endParaRPr lang="en-US" sz="1600" dirty="0"/>
          </a:p>
        </p:txBody>
      </p:sp>
      <p:sp>
        <p:nvSpPr>
          <p:cNvPr id="11" name="Text 9"/>
          <p:cNvSpPr/>
          <p:nvPr/>
        </p:nvSpPr>
        <p:spPr>
          <a:xfrm>
            <a:off x="1188720" y="3300984"/>
            <a:ext cx="10454335" cy="457200"/>
          </a:xfrm>
          <a:prstGeom prst="rect">
            <a:avLst/>
          </a:prstGeom>
          <a:noFill/>
          <a:ln/>
        </p:spPr>
        <p:txBody>
          <a:bodyPr wrap="square" lIns="0" tIns="0" rIns="0" bIns="0" rtlCol="0" anchor="t"/>
          <a:lstStyle/>
          <a:p>
            <a:pPr indent="0" marL="0">
              <a:buNone/>
            </a:pPr>
            <a:r>
              <a:rPr lang="en-US" sz="1900" dirty="0">
                <a:solidFill>
                  <a:srgbClr val="221F1A"/>
                </a:solidFill>
                <a:latin typeface="Source Serif 4" pitchFamily="34" charset="0"/>
                <a:ea typeface="Source Serif 4" pitchFamily="34" charset="-122"/>
                <a:cs typeface="Source Serif 4" pitchFamily="34" charset="-120"/>
              </a:rPr>
              <a:t>What we send back to you</a:t>
            </a:r>
            <a:endParaRPr lang="en-US" sz="1900" dirty="0"/>
          </a:p>
        </p:txBody>
      </p:sp>
      <p:sp>
        <p:nvSpPr>
          <p:cNvPr id="12" name="Text 10"/>
          <p:cNvSpPr/>
          <p:nvPr/>
        </p:nvSpPr>
        <p:spPr>
          <a:xfrm>
            <a:off x="548640" y="3867912"/>
            <a:ext cx="548640" cy="457200"/>
          </a:xfrm>
          <a:prstGeom prst="rect">
            <a:avLst/>
          </a:prstGeom>
          <a:noFill/>
          <a:ln/>
        </p:spPr>
        <p:txBody>
          <a:bodyPr wrap="square" lIns="0" tIns="0" rIns="0" bIns="0" rtlCol="0" anchor="ctr"/>
          <a:lstStyle/>
          <a:p>
            <a:pPr indent="0" marL="0">
              <a:buNone/>
            </a:pPr>
            <a:r>
              <a:rPr lang="en-US" sz="1600" b="1" dirty="0">
                <a:solidFill>
                  <a:srgbClr val="923D28"/>
                </a:solidFill>
                <a:latin typeface="Archivo" pitchFamily="34" charset="0"/>
                <a:ea typeface="Archivo" pitchFamily="34" charset="-122"/>
                <a:cs typeface="Archivo" pitchFamily="34" charset="-120"/>
              </a:rPr>
              <a:t>05</a:t>
            </a:r>
            <a:endParaRPr lang="en-US" sz="1600" dirty="0"/>
          </a:p>
        </p:txBody>
      </p:sp>
      <p:sp>
        <p:nvSpPr>
          <p:cNvPr id="13" name="Text 11"/>
          <p:cNvSpPr/>
          <p:nvPr/>
        </p:nvSpPr>
        <p:spPr>
          <a:xfrm>
            <a:off x="1188720" y="3867912"/>
            <a:ext cx="10454335" cy="457200"/>
          </a:xfrm>
          <a:prstGeom prst="rect">
            <a:avLst/>
          </a:prstGeom>
          <a:noFill/>
          <a:ln/>
        </p:spPr>
        <p:txBody>
          <a:bodyPr wrap="square" lIns="0" tIns="0" rIns="0" bIns="0" rtlCol="0" anchor="t"/>
          <a:lstStyle/>
          <a:p>
            <a:pPr indent="0" marL="0">
              <a:buNone/>
            </a:pPr>
            <a:r>
              <a:rPr lang="en-US" sz="1900" dirty="0">
                <a:solidFill>
                  <a:srgbClr val="221F1A"/>
                </a:solidFill>
                <a:latin typeface="Source Serif 4" pitchFamily="34" charset="0"/>
                <a:ea typeface="Source Serif 4" pitchFamily="34" charset="-122"/>
                <a:cs typeface="Source Serif 4" pitchFamily="34" charset="-120"/>
              </a:rPr>
              <a:t>Next steps</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abuhaithem/Documents/dellisandassociates/desert-peak-brand/web/logos/logo-reversed@2x.png">    </p:cNvPr>
          <p:cNvPicPr>
            <a:picLocks noChangeAspect="1"/>
          </p:cNvPicPr>
          <p:nvPr/>
        </p:nvPicPr>
        <p:blipFill>
          <a:blip r:embed="rId1"/>
          <a:stretch>
            <a:fillRect/>
          </a:stretch>
        </p:blipFill>
        <p:spPr>
          <a:xfrm>
            <a:off x="548640" y="640080"/>
            <a:ext cx="2587752" cy="457200"/>
          </a:xfrm>
          <a:prstGeom prst="rect">
            <a:avLst/>
          </a:prstGeom>
        </p:spPr>
      </p:pic>
      <p:sp>
        <p:nvSpPr>
          <p:cNvPr id="3" name="Text 0"/>
          <p:cNvSpPr/>
          <p:nvPr/>
        </p:nvSpPr>
        <p:spPr>
          <a:xfrm>
            <a:off x="548640" y="2743200"/>
            <a:ext cx="11094415" cy="1097280"/>
          </a:xfrm>
          <a:prstGeom prst="rect">
            <a:avLst/>
          </a:prstGeom>
          <a:noFill/>
          <a:ln/>
        </p:spPr>
        <p:txBody>
          <a:bodyPr wrap="square" lIns="0" tIns="0" rIns="0" bIns="0" rtlCol="0" anchor="ctr"/>
          <a:lstStyle/>
          <a:p>
            <a:pPr indent="0" marL="0">
              <a:buNone/>
            </a:pPr>
            <a:r>
              <a:rPr lang="en-US" sz="4000" b="1" dirty="0">
                <a:solidFill>
                  <a:srgbClr val="FAF4EC"/>
                </a:solidFill>
                <a:latin typeface="Archivo" pitchFamily="34" charset="0"/>
                <a:ea typeface="Archivo" pitchFamily="34" charset="-122"/>
                <a:cs typeface="Archivo" pitchFamily="34" charset="-120"/>
              </a:rPr>
              <a:t>How a review works</a:t>
            </a:r>
            <a:endParaRPr lang="en-US" sz="4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t"/>
          <a:lstStyle/>
          <a:p>
            <a:pPr indent="0" marL="0">
              <a:buNone/>
            </a:pPr>
            <a:r>
              <a:rPr lang="en-US" sz="3000" b="1" dirty="0">
                <a:solidFill>
                  <a:srgbClr val="221F1A"/>
                </a:solidFill>
                <a:latin typeface="Archivo" pitchFamily="34" charset="0"/>
                <a:ea typeface="Archivo" pitchFamily="34" charset="-122"/>
                <a:cs typeface="Archivo" pitchFamily="34" charset="-120"/>
              </a:rPr>
              <a:t>The comparison</a:t>
            </a:r>
            <a:endParaRPr lang="en-US" sz="3000" dirty="0"/>
          </a:p>
        </p:txBody>
      </p:sp>
      <p:sp>
        <p:nvSpPr>
          <p:cNvPr id="3" name="Shape 1"/>
          <p:cNvSpPr/>
          <p:nvPr/>
        </p:nvSpPr>
        <p:spPr>
          <a:xfrm>
            <a:off x="548640" y="1216152"/>
            <a:ext cx="914400" cy="36576"/>
          </a:xfrm>
          <a:prstGeom prst="rect">
            <a:avLst/>
          </a:prstGeom>
          <a:solidFill>
            <a:srgbClr val="923D28"/>
          </a:solidFill>
          <a:ln w="12700">
            <a:solidFill>
              <a:srgbClr val="923D2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108960"/>
                <a:gridCol w="2011680"/>
                <a:gridCol w="1993392"/>
                <a:gridCol w="1993392"/>
                <a:gridCol w="1984248"/>
              </a:tblGrid>
              <a:tr h="384048">
                <a:tc>
                  <a:txBody>
                    <a:bodyPr/>
                    <a:lstStyle/>
                    <a:p>
                      <a:pPr algn="l" indent="0" marL="0">
                        <a:buNone/>
                      </a:pPr>
                      <a:r>
                        <a:rPr lang="en-US" sz="1000" b="1" dirty="0">
                          <a:solidFill>
                            <a:srgbClr val="605A52"/>
                          </a:solidFill>
                          <a:latin typeface="Archivo" pitchFamily="34" charset="0"/>
                          <a:ea typeface="Archivo" pitchFamily="34" charset="-122"/>
                          <a:cs typeface="Archivo" pitchFamily="34" charset="-120"/>
                        </a:rPr>
                        <a:t>Coverage</a:t>
                      </a:r>
                      <a:endParaRPr lang="en-US" sz="10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000" b="1" dirty="0">
                          <a:solidFill>
                            <a:srgbClr val="605A52"/>
                          </a:solidFill>
                          <a:latin typeface="Archivo" pitchFamily="34" charset="0"/>
                          <a:ea typeface="Archivo" pitchFamily="34" charset="-122"/>
                          <a:cs typeface="Archivo" pitchFamily="34" charset="-120"/>
                        </a:rPr>
                        <a:t>Current policy</a:t>
                      </a:r>
                      <a:endParaRPr lang="en-US" sz="10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CE6E0"/>
                    </a:solidFill>
                  </a:tcPr>
                </a:tc>
                <a:tc>
                  <a:txBody>
                    <a:bodyPr/>
                    <a:lstStyle/>
                    <a:p>
                      <a:pPr algn="r" indent="0" marL="0">
                        <a:buNone/>
                      </a:pPr>
                      <a:r>
                        <a:rPr lang="en-US" sz="1000" b="1" dirty="0">
                          <a:solidFill>
                            <a:srgbClr val="605A52"/>
                          </a:solidFill>
                          <a:latin typeface="Archivo" pitchFamily="34" charset="0"/>
                          <a:ea typeface="Archivo" pitchFamily="34" charset="-122"/>
                          <a:cs typeface="Archivo" pitchFamily="34" charset="-120"/>
                        </a:rPr>
                        <a:t>Carrier A</a:t>
                      </a:r>
                      <a:endParaRPr lang="en-US" sz="10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000" b="1" dirty="0">
                          <a:solidFill>
                            <a:srgbClr val="605A52"/>
                          </a:solidFill>
                          <a:latin typeface="Archivo" pitchFamily="34" charset="0"/>
                          <a:ea typeface="Archivo" pitchFamily="34" charset="-122"/>
                          <a:cs typeface="Archivo" pitchFamily="34" charset="-120"/>
                        </a:rPr>
                        <a:t>Carrier B</a:t>
                      </a:r>
                      <a:endParaRPr lang="en-US" sz="10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000" b="1" dirty="0">
                          <a:solidFill>
                            <a:srgbClr val="605A52"/>
                          </a:solidFill>
                          <a:latin typeface="Archivo" pitchFamily="34" charset="0"/>
                          <a:ea typeface="Archivo" pitchFamily="34" charset="-122"/>
                          <a:cs typeface="Archivo" pitchFamily="34" charset="-120"/>
                        </a:rPr>
                        <a:t>Carrier C</a:t>
                      </a:r>
                      <a:endParaRPr lang="en-US" sz="10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r>
              <a:tr h="384048">
                <a:tc>
                  <a:txBody>
                    <a:bodyPr/>
                    <a:lstStyle/>
                    <a:p>
                      <a:pPr algn="l" indent="0" marL="0">
                        <a:buNone/>
                      </a:pPr>
                      <a:r>
                        <a:rPr lang="en-US" sz="1300" dirty="0">
                          <a:solidFill>
                            <a:srgbClr val="221F1A"/>
                          </a:solidFill>
                          <a:latin typeface="Archivo" pitchFamily="34" charset="0"/>
                          <a:ea typeface="Archivo" pitchFamily="34" charset="-122"/>
                          <a:cs typeface="Archivo" pitchFamily="34" charset="-120"/>
                        </a:rPr>
                        <a:t>Bodily injury, per person</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CE6E0"/>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$250,000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$250,000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$250,000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r>
              <a:tr h="384048">
                <a:tc>
                  <a:txBody>
                    <a:bodyPr/>
                    <a:lstStyle/>
                    <a:p>
                      <a:pPr algn="l" indent="0" marL="0">
                        <a:buNone/>
                      </a:pPr>
                      <a:r>
                        <a:rPr lang="en-US" sz="1300" dirty="0">
                          <a:solidFill>
                            <a:srgbClr val="221F1A"/>
                          </a:solidFill>
                          <a:latin typeface="Archivo" pitchFamily="34" charset="0"/>
                          <a:ea typeface="Archivo" pitchFamily="34" charset="-122"/>
                          <a:cs typeface="Archivo" pitchFamily="34" charset="-120"/>
                        </a:rPr>
                        <a:t>Bodily injury, per accident</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$300,000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CE6E0"/>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r>
              <a:tr h="384048">
                <a:tc>
                  <a:txBody>
                    <a:bodyPr/>
                    <a:lstStyle/>
                    <a:p>
                      <a:pPr algn="l" indent="0" marL="0">
                        <a:buNone/>
                      </a:pPr>
                      <a:r>
                        <a:rPr lang="en-US" sz="1300" dirty="0">
                          <a:solidFill>
                            <a:srgbClr val="221F1A"/>
                          </a:solidFill>
                          <a:latin typeface="Archivo" pitchFamily="34" charset="0"/>
                          <a:ea typeface="Archivo" pitchFamily="34" charset="-122"/>
                          <a:cs typeface="Archivo" pitchFamily="34" charset="-120"/>
                        </a:rPr>
                        <a:t>Property damage</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CE6E0"/>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r>
              <a:tr h="384048">
                <a:tc>
                  <a:txBody>
                    <a:bodyPr/>
                    <a:lstStyle/>
                    <a:p>
                      <a:pPr algn="l" indent="0" marL="0">
                        <a:buNone/>
                      </a:pPr>
                      <a:r>
                        <a:rPr lang="en-US" sz="1300" dirty="0">
                          <a:solidFill>
                            <a:srgbClr val="221F1A"/>
                          </a:solidFill>
                          <a:latin typeface="Archivo" pitchFamily="34" charset="0"/>
                          <a:ea typeface="Archivo" pitchFamily="34" charset="-122"/>
                          <a:cs typeface="Archivo" pitchFamily="34" charset="-120"/>
                        </a:rPr>
                        <a:t>Uninsured motorist, per person</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CE6E0"/>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$250,000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$250,000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r>
              <a:tr h="384048">
                <a:tc>
                  <a:txBody>
                    <a:bodyPr/>
                    <a:lstStyle/>
                    <a:p>
                      <a:pPr algn="l" indent="0" marL="0">
                        <a:buNone/>
                      </a:pPr>
                      <a:r>
                        <a:rPr lang="en-US" sz="1300" dirty="0">
                          <a:solidFill>
                            <a:srgbClr val="221F1A"/>
                          </a:solidFill>
                          <a:latin typeface="Archivo" pitchFamily="34" charset="0"/>
                          <a:ea typeface="Archivo" pitchFamily="34" charset="-122"/>
                          <a:cs typeface="Archivo" pitchFamily="34" charset="-120"/>
                        </a:rPr>
                        <a:t>Collision deductible</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CE6E0"/>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r>
              <a:tr h="384048">
                <a:tc>
                  <a:txBody>
                    <a:bodyPr/>
                    <a:lstStyle/>
                    <a:p>
                      <a:pPr algn="l" indent="0" marL="0">
                        <a:buNone/>
                      </a:pPr>
                      <a:r>
                        <a:rPr lang="en-US" sz="1300" dirty="0">
                          <a:solidFill>
                            <a:srgbClr val="221F1A"/>
                          </a:solidFill>
                          <a:latin typeface="Archivo" pitchFamily="34" charset="0"/>
                          <a:ea typeface="Archivo" pitchFamily="34" charset="-122"/>
                          <a:cs typeface="Archivo" pitchFamily="34" charset="-120"/>
                        </a:rPr>
                        <a:t>Comprehensive deductible</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CE6E0"/>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$500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1EAE1"/>
                    </a:solidFill>
                  </a:tcPr>
                </a:tc>
              </a:tr>
              <a:tr h="384048">
                <a:tc>
                  <a:txBody>
                    <a:bodyPr/>
                    <a:lstStyle/>
                    <a:p>
                      <a:pPr algn="l" indent="0" marL="0">
                        <a:buNone/>
                      </a:pPr>
                      <a:r>
                        <a:rPr lang="en-US" sz="1300" dirty="0">
                          <a:solidFill>
                            <a:srgbClr val="221F1A"/>
                          </a:solidFill>
                          <a:latin typeface="Archivo" pitchFamily="34" charset="0"/>
                          <a:ea typeface="Archivo" pitchFamily="34" charset="-122"/>
                          <a:cs typeface="Archivo" pitchFamily="34" charset="-120"/>
                        </a:rPr>
                        <a:t>Umbrella</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CE6E0"/>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c>
                  <a:txBody>
                    <a:bodyPr/>
                    <a:lstStyle/>
                    <a:p>
                      <a:pPr algn="r" indent="0" marL="0">
                        <a:buNone/>
                      </a:pPr>
                      <a:r>
                        <a:rPr lang="en-US" sz="1300" dirty="0">
                          <a:solidFill>
                            <a:srgbClr val="221F1A"/>
                          </a:solidFill>
                          <a:latin typeface="Archivo" pitchFamily="34" charset="0"/>
                          <a:ea typeface="Archivo" pitchFamily="34" charset="-122"/>
                          <a:cs typeface="Archivo" pitchFamily="34" charset="-120"/>
                        </a:rPr>
                        <a:t>$1,000,000</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0" cap="flat" cmpd="sng" algn="ctr">
                      <a:noFill/>
                    </a:lnT>
                    <a:lnB w="6350" cap="flat" cmpd="sng" algn="ctr">
                      <a:solidFill>
                        <a:srgbClr val="DDD6CE"/>
                      </a:solidFill>
                      <a:prstDash val="solid"/>
                      <a:round/>
                      <a:headEnd type="none" w="med" len="med"/>
                      <a:tailEnd type="none" w="med" len="med"/>
                    </a:lnB>
                    <a:solidFill>
                      <a:srgbClr val="FAF4EC"/>
                    </a:solidFill>
                  </a:tcPr>
                </a:tc>
              </a:tr>
              <a:tr h="384048">
                <a:tc>
                  <a:txBody>
                    <a:bodyPr/>
                    <a:lstStyle/>
                    <a:p>
                      <a:pPr algn="l" indent="0" marL="0">
                        <a:buNone/>
                      </a:pPr>
                      <a:r>
                        <a:rPr lang="en-US" sz="1300" b="1" dirty="0">
                          <a:solidFill>
                            <a:srgbClr val="221F1A"/>
                          </a:solidFill>
                          <a:latin typeface="Archivo" pitchFamily="34" charset="0"/>
                          <a:ea typeface="Archivo" pitchFamily="34" charset="-122"/>
                          <a:cs typeface="Archivo" pitchFamily="34" charset="-120"/>
                        </a:rPr>
                        <a:t>Annual premium</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25400" cap="flat" cmpd="sng" algn="ctr">
                      <a:solidFill>
                        <a:srgbClr val="221F1A"/>
                      </a:solidFill>
                      <a:prstDash val="solid"/>
                      <a:round/>
                      <a:headEnd type="none" w="med" len="med"/>
                      <a:tailEnd type="none" w="med" len="med"/>
                    </a:lnT>
                    <a:lnB w="0" cap="flat" cmpd="sng" algn="ctr">
                      <a:noFill/>
                    </a:lnB>
                    <a:solidFill>
                      <a:srgbClr val="FAF4EC"/>
                    </a:solidFill>
                  </a:tcPr>
                </a:tc>
                <a:tc>
                  <a:txBody>
                    <a:bodyPr/>
                    <a:lstStyle/>
                    <a:p>
                      <a:pPr algn="r" indent="0" marL="0">
                        <a:buNone/>
                      </a:pPr>
                      <a:r>
                        <a:rPr lang="en-US" sz="1300" b="1" dirty="0">
                          <a:solidFill>
                            <a:srgbClr val="221F1A"/>
                          </a:solidFill>
                          <a:latin typeface="Archivo" pitchFamily="34" charset="0"/>
                          <a:ea typeface="Archivo" pitchFamily="34" charset="-122"/>
                          <a:cs typeface="Archivo" pitchFamily="34" charset="-120"/>
                        </a:rPr>
                        <a:t>$1,842</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25400" cap="flat" cmpd="sng" algn="ctr">
                      <a:solidFill>
                        <a:srgbClr val="221F1A"/>
                      </a:solidFill>
                      <a:prstDash val="solid"/>
                      <a:round/>
                      <a:headEnd type="none" w="med" len="med"/>
                      <a:tailEnd type="none" w="med" len="med"/>
                    </a:lnT>
                    <a:lnB w="0" cap="flat" cmpd="sng" algn="ctr">
                      <a:noFill/>
                    </a:lnB>
                    <a:solidFill>
                      <a:srgbClr val="FCE6E0"/>
                    </a:solidFill>
                  </a:tcPr>
                </a:tc>
                <a:tc>
                  <a:txBody>
                    <a:bodyPr/>
                    <a:lstStyle/>
                    <a:p>
                      <a:pPr algn="r" indent="0" marL="0">
                        <a:buNone/>
                      </a:pPr>
                      <a:r>
                        <a:rPr lang="en-US" sz="1300" b="1" dirty="0">
                          <a:solidFill>
                            <a:srgbClr val="221F1A"/>
                          </a:solidFill>
                          <a:latin typeface="Archivo" pitchFamily="34" charset="0"/>
                          <a:ea typeface="Archivo" pitchFamily="34" charset="-122"/>
                          <a:cs typeface="Archivo" pitchFamily="34" charset="-120"/>
                        </a:rPr>
                        <a:t>$2,106</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25400" cap="flat" cmpd="sng" algn="ctr">
                      <a:solidFill>
                        <a:srgbClr val="221F1A"/>
                      </a:solidFill>
                      <a:prstDash val="solid"/>
                      <a:round/>
                      <a:headEnd type="none" w="med" len="med"/>
                      <a:tailEnd type="none" w="med" len="med"/>
                    </a:lnT>
                    <a:lnB w="0" cap="flat" cmpd="sng" algn="ctr">
                      <a:noFill/>
                    </a:lnB>
                    <a:solidFill>
                      <a:srgbClr val="FAF4EC"/>
                    </a:solidFill>
                  </a:tcPr>
                </a:tc>
                <a:tc>
                  <a:txBody>
                    <a:bodyPr/>
                    <a:lstStyle/>
                    <a:p>
                      <a:pPr algn="r" indent="0" marL="0">
                        <a:buNone/>
                      </a:pPr>
                      <a:r>
                        <a:rPr lang="en-US" sz="1300" b="1" dirty="0">
                          <a:solidFill>
                            <a:srgbClr val="221F1A"/>
                          </a:solidFill>
                          <a:latin typeface="Archivo" pitchFamily="34" charset="0"/>
                          <a:ea typeface="Archivo" pitchFamily="34" charset="-122"/>
                          <a:cs typeface="Archivo" pitchFamily="34" charset="-120"/>
                        </a:rPr>
                        <a:t>$2,214</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25400" cap="flat" cmpd="sng" algn="ctr">
                      <a:solidFill>
                        <a:srgbClr val="221F1A"/>
                      </a:solidFill>
                      <a:prstDash val="solid"/>
                      <a:round/>
                      <a:headEnd type="none" w="med" len="med"/>
                      <a:tailEnd type="none" w="med" len="med"/>
                    </a:lnT>
                    <a:lnB w="0" cap="flat" cmpd="sng" algn="ctr">
                      <a:noFill/>
                    </a:lnB>
                    <a:solidFill>
                      <a:srgbClr val="FAF4EC"/>
                    </a:solidFill>
                  </a:tcPr>
                </a:tc>
                <a:tc>
                  <a:txBody>
                    <a:bodyPr/>
                    <a:lstStyle/>
                    <a:p>
                      <a:pPr algn="r" indent="0" marL="0">
                        <a:buNone/>
                      </a:pPr>
                      <a:r>
                        <a:rPr lang="en-US" sz="1300" b="1" dirty="0">
                          <a:solidFill>
                            <a:srgbClr val="221F1A"/>
                          </a:solidFill>
                          <a:latin typeface="Archivo" pitchFamily="34" charset="0"/>
                          <a:ea typeface="Archivo" pitchFamily="34" charset="-122"/>
                          <a:cs typeface="Archivo" pitchFamily="34" charset="-120"/>
                        </a:rPr>
                        <a:t>$2,048</a:t>
                      </a:r>
                      <a:endParaRPr lang="en-US" sz="1300" dirty="0">
                        <a:latin typeface="Archivo" charset="0"/>
                        <a:ea typeface="Archivo" charset="0"/>
                        <a:cs typeface="Archivo" charset="0"/>
                      </a:endParaRPr>
                    </a:p>
                  </a:txBody>
                  <a:tcPr marL="109728" marR="109728" marT="54864" marB="54864" anchor="ctr">
                    <a:lnL w="0" cap="flat" cmpd="sng" algn="ctr">
                      <a:noFill/>
                    </a:lnL>
                    <a:lnR w="0" cap="flat" cmpd="sng" algn="ctr">
                      <a:noFill/>
                    </a:lnR>
                    <a:lnT w="25400" cap="flat" cmpd="sng" algn="ctr">
                      <a:solidFill>
                        <a:srgbClr val="221F1A"/>
                      </a:solidFill>
                      <a:prstDash val="solid"/>
                      <a:round/>
                      <a:headEnd type="none" w="med" len="med"/>
                      <a:tailEnd type="none" w="med" len="med"/>
                    </a:lnT>
                    <a:lnB w="0" cap="flat" cmpd="sng" algn="ctr">
                      <a:noFill/>
                    </a:lnB>
                    <a:solidFill>
                      <a:srgbClr val="FAF4EC"/>
                    </a:solidFill>
                  </a:tcPr>
                </a:tc>
              </a:tr>
            </a:tbl>
          </a:graphicData>
        </a:graphic>
      </p:graphicFrame>
      <p:sp>
        <p:nvSpPr>
          <p:cNvPr id="5" name="Text 2"/>
          <p:cNvSpPr/>
          <p:nvPr/>
        </p:nvSpPr>
        <p:spPr>
          <a:xfrm>
            <a:off x="548640" y="5257800"/>
            <a:ext cx="11094415" cy="274320"/>
          </a:xfrm>
          <a:prstGeom prst="rect">
            <a:avLst/>
          </a:prstGeom>
          <a:noFill/>
          <a:ln/>
        </p:spPr>
        <p:txBody>
          <a:bodyPr wrap="square" lIns="0" tIns="0" rIns="0" bIns="0" rtlCol="0" anchor="t"/>
          <a:lstStyle/>
          <a:p>
            <a:pPr indent="0" marL="0">
              <a:buNone/>
            </a:pPr>
            <a:r>
              <a:rPr lang="en-US" sz="1100" dirty="0">
                <a:solidFill>
                  <a:srgbClr val="605A52"/>
                </a:solidFill>
                <a:latin typeface="Archivo" pitchFamily="34" charset="0"/>
                <a:ea typeface="Archivo" pitchFamily="34" charset="-122"/>
                <a:cs typeface="Archivo" pitchFamily="34" charset="-120"/>
              </a:rPr>
              <a:t>Illustrative figures for layout review. Not a quote. Carriers are anonymised until appointments are confirmed.</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t"/>
          <a:lstStyle/>
          <a:p>
            <a:pPr indent="0" marL="0">
              <a:buNone/>
            </a:pPr>
            <a:r>
              <a:rPr lang="en-US" sz="3000" b="1" dirty="0">
                <a:solidFill>
                  <a:srgbClr val="221F1A"/>
                </a:solidFill>
                <a:latin typeface="Archivo" pitchFamily="34" charset="0"/>
                <a:ea typeface="Archivo" pitchFamily="34" charset="-122"/>
                <a:cs typeface="Archivo" pitchFamily="34" charset="-120"/>
              </a:rPr>
              <a:t>What each state requires</a:t>
            </a:r>
            <a:endParaRPr lang="en-US" sz="3000" dirty="0"/>
          </a:p>
        </p:txBody>
      </p:sp>
      <p:sp>
        <p:nvSpPr>
          <p:cNvPr id="3" name="Shape 1"/>
          <p:cNvSpPr/>
          <p:nvPr/>
        </p:nvSpPr>
        <p:spPr>
          <a:xfrm>
            <a:off x="548640" y="1216152"/>
            <a:ext cx="914400" cy="36576"/>
          </a:xfrm>
          <a:prstGeom prst="rect">
            <a:avLst/>
          </a:prstGeom>
          <a:solidFill>
            <a:srgbClr val="923D28"/>
          </a:solidFill>
          <a:ln w="12700">
            <a:solidFill>
              <a:srgbClr val="923D28"/>
            </a:solidFill>
            <a:prstDash val="solid"/>
          </a:ln>
        </p:spPr>
      </p:sp>
      <p:sp>
        <p:nvSpPr>
          <p:cNvPr id="4" name="Text 2"/>
          <p:cNvSpPr/>
          <p:nvPr/>
        </p:nvSpPr>
        <p:spPr>
          <a:xfrm>
            <a:off x="548640" y="1554480"/>
            <a:ext cx="5410048" cy="320040"/>
          </a:xfrm>
          <a:prstGeom prst="rect">
            <a:avLst/>
          </a:prstGeom>
          <a:noFill/>
          <a:ln/>
        </p:spPr>
        <p:txBody>
          <a:bodyPr wrap="square" lIns="0" tIns="0" rIns="0" bIns="0" rtlCol="0" anchor="ctr"/>
          <a:lstStyle/>
          <a:p>
            <a:pPr indent="0" marL="0">
              <a:buNone/>
            </a:pPr>
            <a:r>
              <a:rPr lang="en-US" sz="1500" b="1" dirty="0">
                <a:solidFill>
                  <a:srgbClr val="221F1A"/>
                </a:solidFill>
                <a:latin typeface="Archivo" pitchFamily="34" charset="0"/>
                <a:ea typeface="Archivo" pitchFamily="34" charset="-122"/>
                <a:cs typeface="Archivo" pitchFamily="34" charset="-120"/>
              </a:rPr>
              <a:t>Arizona</a:t>
            </a:r>
            <a:endParaRPr lang="en-US" sz="1500" dirty="0"/>
          </a:p>
        </p:txBody>
      </p:sp>
      <p:sp>
        <p:nvSpPr>
          <p:cNvPr id="5" name="Text 3"/>
          <p:cNvSpPr/>
          <p:nvPr/>
        </p:nvSpPr>
        <p:spPr>
          <a:xfrm>
            <a:off x="548640" y="1901952"/>
            <a:ext cx="5410048" cy="457200"/>
          </a:xfrm>
          <a:prstGeom prst="rect">
            <a:avLst/>
          </a:prstGeom>
          <a:noFill/>
          <a:ln/>
        </p:spPr>
        <p:txBody>
          <a:bodyPr wrap="square" lIns="0" tIns="0" rIns="0" bIns="0" rtlCol="0" anchor="ctr"/>
          <a:lstStyle/>
          <a:p>
            <a:pPr indent="0" marL="0">
              <a:buNone/>
            </a:pPr>
            <a:r>
              <a:rPr lang="en-US" sz="2400" b="1" dirty="0">
                <a:solidFill>
                  <a:srgbClr val="923D28"/>
                </a:solidFill>
                <a:latin typeface="Archivo" pitchFamily="34" charset="0"/>
                <a:ea typeface="Archivo" pitchFamily="34" charset="-122"/>
                <a:cs typeface="Archivo" pitchFamily="34" charset="-120"/>
              </a:rPr>
              <a:t>$25,000 / $50,000 / $15,000</a:t>
            </a:r>
            <a:endParaRPr lang="en-US" sz="2400" dirty="0"/>
          </a:p>
        </p:txBody>
      </p:sp>
      <p:sp>
        <p:nvSpPr>
          <p:cNvPr id="6" name="Text 4"/>
          <p:cNvSpPr/>
          <p:nvPr/>
        </p:nvSpPr>
        <p:spPr>
          <a:xfrm>
            <a:off x="548640" y="2423160"/>
            <a:ext cx="5410048" cy="731520"/>
          </a:xfrm>
          <a:prstGeom prst="rect">
            <a:avLst/>
          </a:prstGeom>
          <a:noFill/>
          <a:ln/>
        </p:spPr>
        <p:txBody>
          <a:bodyPr wrap="square" lIns="0" tIns="0" rIns="0" bIns="0" rtlCol="0" anchor="t"/>
          <a:lstStyle/>
          <a:p>
            <a:pPr indent="0" marL="0">
              <a:buNone/>
            </a:pPr>
            <a:r>
              <a:rPr lang="en-US" sz="1300" dirty="0">
                <a:solidFill>
                  <a:srgbClr val="221F1A"/>
                </a:solidFill>
                <a:latin typeface="Source Serif 4" pitchFamily="34" charset="0"/>
                <a:ea typeface="Source Serif 4" pitchFamily="34" charset="-122"/>
                <a:cs typeface="Source Serif 4" pitchFamily="34" charset="-120"/>
              </a:rPr>
              <a:t>Arizona requires at least $25,000 per person and $50,000 per accident for bodily injury, and $15,000 for property damage, on policies issued or renewed since July 1, 2020.</a:t>
            </a:r>
            <a:endParaRPr lang="en-US" sz="1300" dirty="0"/>
          </a:p>
        </p:txBody>
      </p:sp>
      <p:sp>
        <p:nvSpPr>
          <p:cNvPr id="7" name="Text 5"/>
          <p:cNvSpPr/>
          <p:nvPr/>
        </p:nvSpPr>
        <p:spPr>
          <a:xfrm>
            <a:off x="548640" y="3127248"/>
            <a:ext cx="5410048" cy="274320"/>
          </a:xfrm>
          <a:prstGeom prst="rect">
            <a:avLst/>
          </a:prstGeom>
          <a:noFill/>
          <a:ln/>
        </p:spPr>
        <p:txBody>
          <a:bodyPr wrap="square" lIns="0" tIns="0" rIns="0" bIns="0" rtlCol="0" anchor="t"/>
          <a:lstStyle/>
          <a:p>
            <a:pPr indent="0" marL="0">
              <a:buNone/>
            </a:pPr>
            <a:r>
              <a:rPr lang="en-US" sz="900" dirty="0">
                <a:solidFill>
                  <a:srgbClr val="605A52"/>
                </a:solidFill>
                <a:latin typeface="Archivo" pitchFamily="34" charset="0"/>
                <a:ea typeface="Archivo" pitchFamily="34" charset="-122"/>
                <a:cs typeface="Archivo" pitchFamily="34" charset="-120"/>
              </a:rPr>
              <a:t>Source: A.R.S. § 28-4009 (azleg.gov), verified 2026-09-13</a:t>
            </a:r>
            <a:endParaRPr lang="en-US" sz="900" dirty="0"/>
          </a:p>
        </p:txBody>
      </p:sp>
      <p:sp>
        <p:nvSpPr>
          <p:cNvPr id="8" name="Text 6"/>
          <p:cNvSpPr/>
          <p:nvPr/>
        </p:nvSpPr>
        <p:spPr>
          <a:xfrm>
            <a:off x="6233008" y="1554480"/>
            <a:ext cx="5410048" cy="320040"/>
          </a:xfrm>
          <a:prstGeom prst="rect">
            <a:avLst/>
          </a:prstGeom>
          <a:noFill/>
          <a:ln/>
        </p:spPr>
        <p:txBody>
          <a:bodyPr wrap="square" lIns="0" tIns="0" rIns="0" bIns="0" rtlCol="0" anchor="ctr"/>
          <a:lstStyle/>
          <a:p>
            <a:pPr indent="0" marL="0">
              <a:buNone/>
            </a:pPr>
            <a:r>
              <a:rPr lang="en-US" sz="1500" b="1" dirty="0">
                <a:solidFill>
                  <a:srgbClr val="221F1A"/>
                </a:solidFill>
                <a:latin typeface="Archivo" pitchFamily="34" charset="0"/>
                <a:ea typeface="Archivo" pitchFamily="34" charset="-122"/>
                <a:cs typeface="Archivo" pitchFamily="34" charset="-120"/>
              </a:rPr>
              <a:t>Nevada</a:t>
            </a:r>
            <a:endParaRPr lang="en-US" sz="1500" dirty="0"/>
          </a:p>
        </p:txBody>
      </p:sp>
      <p:sp>
        <p:nvSpPr>
          <p:cNvPr id="9" name="Text 7"/>
          <p:cNvSpPr/>
          <p:nvPr/>
        </p:nvSpPr>
        <p:spPr>
          <a:xfrm>
            <a:off x="6233008" y="1901952"/>
            <a:ext cx="5410048" cy="457200"/>
          </a:xfrm>
          <a:prstGeom prst="rect">
            <a:avLst/>
          </a:prstGeom>
          <a:noFill/>
          <a:ln/>
        </p:spPr>
        <p:txBody>
          <a:bodyPr wrap="square" lIns="0" tIns="0" rIns="0" bIns="0" rtlCol="0" anchor="ctr"/>
          <a:lstStyle/>
          <a:p>
            <a:pPr indent="0" marL="0">
              <a:buNone/>
            </a:pPr>
            <a:r>
              <a:rPr lang="en-US" sz="2400" b="1" dirty="0">
                <a:solidFill>
                  <a:srgbClr val="923D28"/>
                </a:solidFill>
                <a:latin typeface="Archivo" pitchFamily="34" charset="0"/>
                <a:ea typeface="Archivo" pitchFamily="34" charset="-122"/>
                <a:cs typeface="Archivo" pitchFamily="34" charset="-120"/>
              </a:rPr>
              <a:t>$25,000 / $50,000 / $20,000</a:t>
            </a:r>
            <a:endParaRPr lang="en-US" sz="2400" dirty="0"/>
          </a:p>
        </p:txBody>
      </p:sp>
      <p:sp>
        <p:nvSpPr>
          <p:cNvPr id="10" name="Text 8"/>
          <p:cNvSpPr/>
          <p:nvPr/>
        </p:nvSpPr>
        <p:spPr>
          <a:xfrm>
            <a:off x="6233008" y="2423160"/>
            <a:ext cx="5410048" cy="731520"/>
          </a:xfrm>
          <a:prstGeom prst="rect">
            <a:avLst/>
          </a:prstGeom>
          <a:noFill/>
          <a:ln/>
        </p:spPr>
        <p:txBody>
          <a:bodyPr wrap="square" lIns="0" tIns="0" rIns="0" bIns="0" rtlCol="0" anchor="t"/>
          <a:lstStyle/>
          <a:p>
            <a:pPr indent="0" marL="0">
              <a:buNone/>
            </a:pPr>
            <a:r>
              <a:rPr lang="en-US" sz="1300" dirty="0">
                <a:solidFill>
                  <a:srgbClr val="221F1A"/>
                </a:solidFill>
                <a:latin typeface="Source Serif 4" pitchFamily="34" charset="0"/>
                <a:ea typeface="Source Serif 4" pitchFamily="34" charset="-122"/>
                <a:cs typeface="Source Serif 4" pitchFamily="34" charset="-120"/>
              </a:rPr>
              <a:t>Nevada requires at least $25,000 per person and $50,000 per accident for bodily injury, and $20,000 for property damage.</a:t>
            </a:r>
            <a:endParaRPr lang="en-US" sz="1300" dirty="0"/>
          </a:p>
        </p:txBody>
      </p:sp>
      <p:sp>
        <p:nvSpPr>
          <p:cNvPr id="11" name="Text 9"/>
          <p:cNvSpPr/>
          <p:nvPr/>
        </p:nvSpPr>
        <p:spPr>
          <a:xfrm>
            <a:off x="6233008" y="3127248"/>
            <a:ext cx="5410048" cy="274320"/>
          </a:xfrm>
          <a:prstGeom prst="rect">
            <a:avLst/>
          </a:prstGeom>
          <a:noFill/>
          <a:ln/>
        </p:spPr>
        <p:txBody>
          <a:bodyPr wrap="square" lIns="0" tIns="0" rIns="0" bIns="0" rtlCol="0" anchor="t"/>
          <a:lstStyle/>
          <a:p>
            <a:pPr indent="0" marL="0">
              <a:buNone/>
            </a:pPr>
            <a:r>
              <a:rPr lang="en-US" sz="900" dirty="0">
                <a:solidFill>
                  <a:srgbClr val="605A52"/>
                </a:solidFill>
                <a:latin typeface="Archivo" pitchFamily="34" charset="0"/>
                <a:ea typeface="Archivo" pitchFamily="34" charset="-122"/>
                <a:cs typeface="Archivo" pitchFamily="34" charset="-120"/>
              </a:rPr>
              <a:t>Source: NRS 485.185 (leg.state.nv.us), verified 2026-09-13</a:t>
            </a:r>
            <a:endParaRPr lang="en-US" sz="900" dirty="0"/>
          </a:p>
        </p:txBody>
      </p:sp>
      <p:sp>
        <p:nvSpPr>
          <p:cNvPr id="12" name="Text 10"/>
          <p:cNvSpPr/>
          <p:nvPr/>
        </p:nvSpPr>
        <p:spPr>
          <a:xfrm>
            <a:off x="548640" y="3520440"/>
            <a:ext cx="5410048" cy="320040"/>
          </a:xfrm>
          <a:prstGeom prst="rect">
            <a:avLst/>
          </a:prstGeom>
          <a:noFill/>
          <a:ln/>
        </p:spPr>
        <p:txBody>
          <a:bodyPr wrap="square" lIns="0" tIns="0" rIns="0" bIns="0" rtlCol="0" anchor="ctr"/>
          <a:lstStyle/>
          <a:p>
            <a:pPr indent="0" marL="0">
              <a:buNone/>
            </a:pPr>
            <a:r>
              <a:rPr lang="en-US" sz="1500" b="1" dirty="0">
                <a:solidFill>
                  <a:srgbClr val="221F1A"/>
                </a:solidFill>
                <a:latin typeface="Archivo" pitchFamily="34" charset="0"/>
                <a:ea typeface="Archivo" pitchFamily="34" charset="-122"/>
                <a:cs typeface="Archivo" pitchFamily="34" charset="-120"/>
              </a:rPr>
              <a:t>Utah</a:t>
            </a:r>
            <a:endParaRPr lang="en-US" sz="1500" dirty="0"/>
          </a:p>
        </p:txBody>
      </p:sp>
      <p:sp>
        <p:nvSpPr>
          <p:cNvPr id="13" name="Text 11"/>
          <p:cNvSpPr/>
          <p:nvPr/>
        </p:nvSpPr>
        <p:spPr>
          <a:xfrm>
            <a:off x="548640" y="3867912"/>
            <a:ext cx="5410048" cy="457200"/>
          </a:xfrm>
          <a:prstGeom prst="rect">
            <a:avLst/>
          </a:prstGeom>
          <a:noFill/>
          <a:ln/>
        </p:spPr>
        <p:txBody>
          <a:bodyPr wrap="square" lIns="0" tIns="0" rIns="0" bIns="0" rtlCol="0" anchor="ctr"/>
          <a:lstStyle/>
          <a:p>
            <a:pPr indent="0" marL="0">
              <a:buNone/>
            </a:pPr>
            <a:r>
              <a:rPr lang="en-US" sz="2400" b="1" dirty="0">
                <a:solidFill>
                  <a:srgbClr val="923D28"/>
                </a:solidFill>
                <a:latin typeface="Archivo" pitchFamily="34" charset="0"/>
                <a:ea typeface="Archivo" pitchFamily="34" charset="-122"/>
                <a:cs typeface="Archivo" pitchFamily="34" charset="-120"/>
              </a:rPr>
              <a:t>$30,000 / $65,000 / $25,000</a:t>
            </a:r>
            <a:endParaRPr lang="en-US" sz="2400" dirty="0"/>
          </a:p>
        </p:txBody>
      </p:sp>
      <p:sp>
        <p:nvSpPr>
          <p:cNvPr id="14" name="Text 12"/>
          <p:cNvSpPr/>
          <p:nvPr/>
        </p:nvSpPr>
        <p:spPr>
          <a:xfrm>
            <a:off x="548640" y="4389120"/>
            <a:ext cx="5410048" cy="731520"/>
          </a:xfrm>
          <a:prstGeom prst="rect">
            <a:avLst/>
          </a:prstGeom>
          <a:noFill/>
          <a:ln/>
        </p:spPr>
        <p:txBody>
          <a:bodyPr wrap="square" lIns="0" tIns="0" rIns="0" bIns="0" rtlCol="0" anchor="t"/>
          <a:lstStyle/>
          <a:p>
            <a:pPr indent="0" marL="0">
              <a:buNone/>
            </a:pPr>
            <a:r>
              <a:rPr lang="en-US" sz="1300" dirty="0">
                <a:solidFill>
                  <a:srgbClr val="221F1A"/>
                </a:solidFill>
                <a:latin typeface="Source Serif 4" pitchFamily="34" charset="0"/>
                <a:ea typeface="Source Serif 4" pitchFamily="34" charset="-122"/>
                <a:cs typeface="Source Serif 4" pitchFamily="34" charset="-120"/>
              </a:rPr>
              <a:t>Utah requires at least $30,000 per person and $65,000 per accident for bodily injury, and $25,000 for property damage, on policies issued or renewed on or after January 1, 2025.</a:t>
            </a:r>
            <a:endParaRPr lang="en-US" sz="1300" dirty="0"/>
          </a:p>
        </p:txBody>
      </p:sp>
      <p:sp>
        <p:nvSpPr>
          <p:cNvPr id="15" name="Text 13"/>
          <p:cNvSpPr/>
          <p:nvPr/>
        </p:nvSpPr>
        <p:spPr>
          <a:xfrm>
            <a:off x="548640" y="5093208"/>
            <a:ext cx="5410048" cy="274320"/>
          </a:xfrm>
          <a:prstGeom prst="rect">
            <a:avLst/>
          </a:prstGeom>
          <a:noFill/>
          <a:ln/>
        </p:spPr>
        <p:txBody>
          <a:bodyPr wrap="square" lIns="0" tIns="0" rIns="0" bIns="0" rtlCol="0" anchor="t"/>
          <a:lstStyle/>
          <a:p>
            <a:pPr indent="0" marL="0">
              <a:buNone/>
            </a:pPr>
            <a:r>
              <a:rPr lang="en-US" sz="900" dirty="0">
                <a:solidFill>
                  <a:srgbClr val="605A52"/>
                </a:solidFill>
                <a:latin typeface="Archivo" pitchFamily="34" charset="0"/>
                <a:ea typeface="Archivo" pitchFamily="34" charset="-122"/>
                <a:cs typeface="Archivo" pitchFamily="34" charset="-120"/>
              </a:rPr>
              <a:t>Source: Utah Code § 31A-22-304 (le.utah.gov), verified 2026-09-13</a:t>
            </a:r>
            <a:endParaRPr lang="en-US" sz="900" dirty="0"/>
          </a:p>
        </p:txBody>
      </p:sp>
      <p:sp>
        <p:nvSpPr>
          <p:cNvPr id="16" name="Text 14"/>
          <p:cNvSpPr/>
          <p:nvPr/>
        </p:nvSpPr>
        <p:spPr>
          <a:xfrm>
            <a:off x="6233008" y="3520440"/>
            <a:ext cx="5410048" cy="320040"/>
          </a:xfrm>
          <a:prstGeom prst="rect">
            <a:avLst/>
          </a:prstGeom>
          <a:noFill/>
          <a:ln/>
        </p:spPr>
        <p:txBody>
          <a:bodyPr wrap="square" lIns="0" tIns="0" rIns="0" bIns="0" rtlCol="0" anchor="ctr"/>
          <a:lstStyle/>
          <a:p>
            <a:pPr indent="0" marL="0">
              <a:buNone/>
            </a:pPr>
            <a:r>
              <a:rPr lang="en-US" sz="1500" b="1" dirty="0">
                <a:solidFill>
                  <a:srgbClr val="221F1A"/>
                </a:solidFill>
                <a:latin typeface="Archivo" pitchFamily="34" charset="0"/>
                <a:ea typeface="Archivo" pitchFamily="34" charset="-122"/>
                <a:cs typeface="Archivo" pitchFamily="34" charset="-120"/>
              </a:rPr>
              <a:t>Idaho</a:t>
            </a:r>
            <a:endParaRPr lang="en-US" sz="1500" dirty="0"/>
          </a:p>
        </p:txBody>
      </p:sp>
      <p:sp>
        <p:nvSpPr>
          <p:cNvPr id="17" name="Text 15"/>
          <p:cNvSpPr/>
          <p:nvPr/>
        </p:nvSpPr>
        <p:spPr>
          <a:xfrm>
            <a:off x="6233008" y="3867912"/>
            <a:ext cx="5410048" cy="457200"/>
          </a:xfrm>
          <a:prstGeom prst="rect">
            <a:avLst/>
          </a:prstGeom>
          <a:noFill/>
          <a:ln/>
        </p:spPr>
        <p:txBody>
          <a:bodyPr wrap="square" lIns="0" tIns="0" rIns="0" bIns="0" rtlCol="0" anchor="ctr"/>
          <a:lstStyle/>
          <a:p>
            <a:pPr indent="0" marL="0">
              <a:buNone/>
            </a:pPr>
            <a:r>
              <a:rPr lang="en-US" sz="2400" b="1" dirty="0">
                <a:solidFill>
                  <a:srgbClr val="923D28"/>
                </a:solidFill>
                <a:latin typeface="Archivo" pitchFamily="34" charset="0"/>
                <a:ea typeface="Archivo" pitchFamily="34" charset="-122"/>
                <a:cs typeface="Archivo" pitchFamily="34" charset="-120"/>
              </a:rPr>
              <a:t>$25,000 / $50,000 / $15,000</a:t>
            </a:r>
            <a:endParaRPr lang="en-US" sz="2400" dirty="0"/>
          </a:p>
        </p:txBody>
      </p:sp>
      <p:sp>
        <p:nvSpPr>
          <p:cNvPr id="18" name="Text 16"/>
          <p:cNvSpPr/>
          <p:nvPr/>
        </p:nvSpPr>
        <p:spPr>
          <a:xfrm>
            <a:off x="6233008" y="4389120"/>
            <a:ext cx="5410048" cy="731520"/>
          </a:xfrm>
          <a:prstGeom prst="rect">
            <a:avLst/>
          </a:prstGeom>
          <a:noFill/>
          <a:ln/>
        </p:spPr>
        <p:txBody>
          <a:bodyPr wrap="square" lIns="0" tIns="0" rIns="0" bIns="0" rtlCol="0" anchor="t"/>
          <a:lstStyle/>
          <a:p>
            <a:pPr indent="0" marL="0">
              <a:buNone/>
            </a:pPr>
            <a:r>
              <a:rPr lang="en-US" sz="1300" dirty="0">
                <a:solidFill>
                  <a:srgbClr val="221F1A"/>
                </a:solidFill>
                <a:latin typeface="Source Serif 4" pitchFamily="34" charset="0"/>
                <a:ea typeface="Source Serif 4" pitchFamily="34" charset="-122"/>
                <a:cs typeface="Source Serif 4" pitchFamily="34" charset="-120"/>
              </a:rPr>
              <a:t>Idaho requires at least $25,000 per person and $50,000 per accident for bodily injury, and $15,000 for property damage.</a:t>
            </a:r>
            <a:endParaRPr lang="en-US" sz="1300" dirty="0"/>
          </a:p>
        </p:txBody>
      </p:sp>
      <p:sp>
        <p:nvSpPr>
          <p:cNvPr id="19" name="Text 17"/>
          <p:cNvSpPr/>
          <p:nvPr/>
        </p:nvSpPr>
        <p:spPr>
          <a:xfrm>
            <a:off x="6233008" y="5093208"/>
            <a:ext cx="5410048" cy="274320"/>
          </a:xfrm>
          <a:prstGeom prst="rect">
            <a:avLst/>
          </a:prstGeom>
          <a:noFill/>
          <a:ln/>
        </p:spPr>
        <p:txBody>
          <a:bodyPr wrap="square" lIns="0" tIns="0" rIns="0" bIns="0" rtlCol="0" anchor="t"/>
          <a:lstStyle/>
          <a:p>
            <a:pPr indent="0" marL="0">
              <a:buNone/>
            </a:pPr>
            <a:r>
              <a:rPr lang="en-US" sz="900" dirty="0">
                <a:solidFill>
                  <a:srgbClr val="605A52"/>
                </a:solidFill>
                <a:latin typeface="Archivo" pitchFamily="34" charset="0"/>
                <a:ea typeface="Archivo" pitchFamily="34" charset="-122"/>
                <a:cs typeface="Archivo" pitchFamily="34" charset="-120"/>
              </a:rPr>
              <a:t>Source: Idaho Code § 49-117 (legislature.idaho.gov), verified 2026-09-13</a:t>
            </a:r>
            <a:endParaRPr lang="en-US" sz="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t"/>
          <a:lstStyle/>
          <a:p>
            <a:pPr indent="0" marL="0">
              <a:buNone/>
            </a:pPr>
            <a:r>
              <a:rPr lang="en-US" sz="3000" b="1" dirty="0">
                <a:solidFill>
                  <a:srgbClr val="221F1A"/>
                </a:solidFill>
                <a:latin typeface="Archivo" pitchFamily="34" charset="0"/>
                <a:ea typeface="Archivo" pitchFamily="34" charset="-122"/>
                <a:cs typeface="Archivo" pitchFamily="34" charset="-120"/>
              </a:rPr>
              <a:t>The finding</a:t>
            </a:r>
            <a:endParaRPr lang="en-US" sz="3000" dirty="0"/>
          </a:p>
        </p:txBody>
      </p:sp>
      <p:sp>
        <p:nvSpPr>
          <p:cNvPr id="3" name="Shape 1"/>
          <p:cNvSpPr/>
          <p:nvPr/>
        </p:nvSpPr>
        <p:spPr>
          <a:xfrm>
            <a:off x="548640" y="1216152"/>
            <a:ext cx="914400" cy="36576"/>
          </a:xfrm>
          <a:prstGeom prst="rect">
            <a:avLst/>
          </a:prstGeom>
          <a:solidFill>
            <a:srgbClr val="923D28"/>
          </a:solidFill>
          <a:ln w="12700">
            <a:solidFill>
              <a:srgbClr val="923D28"/>
            </a:solidFill>
            <a:prstDash val="solid"/>
          </a:ln>
        </p:spPr>
      </p:sp>
      <p:sp>
        <p:nvSpPr>
          <p:cNvPr id="4" name="Text 2"/>
          <p:cNvSpPr/>
          <p:nvPr/>
        </p:nvSpPr>
        <p:spPr>
          <a:xfrm>
            <a:off x="548640" y="1554480"/>
            <a:ext cx="6656649" cy="914400"/>
          </a:xfrm>
          <a:prstGeom prst="rect">
            <a:avLst/>
          </a:prstGeom>
          <a:noFill/>
          <a:ln/>
        </p:spPr>
        <p:txBody>
          <a:bodyPr wrap="square" lIns="0" tIns="0" rIns="0" bIns="0" rtlCol="0" anchor="t"/>
          <a:lstStyle/>
          <a:p>
            <a:pPr indent="0" marL="0">
              <a:buNone/>
            </a:pPr>
            <a:r>
              <a:rPr lang="en-US" sz="2000" dirty="0">
                <a:solidFill>
                  <a:srgbClr val="221F1A"/>
                </a:solidFill>
                <a:latin typeface="Source Serif 4" pitchFamily="34" charset="0"/>
                <a:ea typeface="Source Serif 4" pitchFamily="34" charset="-122"/>
                <a:cs typeface="Source Serif 4" pitchFamily="34" charset="-120"/>
              </a:rPr>
              <a:t>Raise the underlying auto liability limit before adding an umbrella. The umbrella quote is conditional on it.</a:t>
            </a:r>
            <a:endParaRPr lang="en-US" sz="2000" dirty="0"/>
          </a:p>
        </p:txBody>
      </p:sp>
      <p:sp>
        <p:nvSpPr>
          <p:cNvPr id="5" name="Text 3"/>
          <p:cNvSpPr/>
          <p:nvPr/>
        </p:nvSpPr>
        <p:spPr>
          <a:xfrm>
            <a:off x="548640" y="2743200"/>
            <a:ext cx="5010729" cy="41148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Current bodily-injury limit, per person</a:t>
            </a:r>
            <a:endParaRPr lang="en-US" sz="1500" dirty="0"/>
          </a:p>
        </p:txBody>
      </p:sp>
      <p:sp>
        <p:nvSpPr>
          <p:cNvPr id="6" name="Text 4"/>
          <p:cNvSpPr/>
          <p:nvPr/>
        </p:nvSpPr>
        <p:spPr>
          <a:xfrm>
            <a:off x="5559369" y="2743200"/>
            <a:ext cx="1645920" cy="411480"/>
          </a:xfrm>
          <a:prstGeom prst="rect">
            <a:avLst/>
          </a:prstGeom>
          <a:noFill/>
          <a:ln/>
        </p:spPr>
        <p:txBody>
          <a:bodyPr wrap="square" lIns="0" tIns="0" rIns="0" bIns="0" rtlCol="0" anchor="ctr"/>
          <a:lstStyle/>
          <a:p>
            <a:pPr algn="r" indent="0" marL="0">
              <a:buNone/>
            </a:pPr>
            <a:r>
              <a:rPr lang="en-US" sz="1700" b="1" dirty="0">
                <a:solidFill>
                  <a:srgbClr val="221F1A"/>
                </a:solidFill>
                <a:latin typeface="Archivo" pitchFamily="34" charset="0"/>
                <a:ea typeface="Archivo" pitchFamily="34" charset="-122"/>
                <a:cs typeface="Archivo" pitchFamily="34" charset="-120"/>
              </a:rPr>
              <a:t>$100,000</a:t>
            </a:r>
            <a:endParaRPr lang="en-US" sz="1700" dirty="0"/>
          </a:p>
        </p:txBody>
      </p:sp>
      <p:sp>
        <p:nvSpPr>
          <p:cNvPr id="7" name="Text 5"/>
          <p:cNvSpPr/>
          <p:nvPr/>
        </p:nvSpPr>
        <p:spPr>
          <a:xfrm>
            <a:off x="548640" y="3246120"/>
            <a:ext cx="5010729" cy="41148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Underlying limit the umbrella carrier requires</a:t>
            </a:r>
            <a:endParaRPr lang="en-US" sz="1500" dirty="0"/>
          </a:p>
        </p:txBody>
      </p:sp>
      <p:sp>
        <p:nvSpPr>
          <p:cNvPr id="8" name="Text 6"/>
          <p:cNvSpPr/>
          <p:nvPr/>
        </p:nvSpPr>
        <p:spPr>
          <a:xfrm>
            <a:off x="5559369" y="3246120"/>
            <a:ext cx="1645920" cy="411480"/>
          </a:xfrm>
          <a:prstGeom prst="rect">
            <a:avLst/>
          </a:prstGeom>
          <a:noFill/>
          <a:ln/>
        </p:spPr>
        <p:txBody>
          <a:bodyPr wrap="square" lIns="0" tIns="0" rIns="0" bIns="0" rtlCol="0" anchor="ctr"/>
          <a:lstStyle/>
          <a:p>
            <a:pPr algn="r" indent="0" marL="0">
              <a:buNone/>
            </a:pPr>
            <a:r>
              <a:rPr lang="en-US" sz="1700" b="1" dirty="0">
                <a:solidFill>
                  <a:srgbClr val="221F1A"/>
                </a:solidFill>
                <a:latin typeface="Archivo" pitchFamily="34" charset="0"/>
                <a:ea typeface="Archivo" pitchFamily="34" charset="-122"/>
                <a:cs typeface="Archivo" pitchFamily="34" charset="-120"/>
              </a:rPr>
              <a:t>$250,000</a:t>
            </a:r>
            <a:endParaRPr lang="en-US" sz="1700" dirty="0"/>
          </a:p>
        </p:txBody>
      </p:sp>
      <p:sp>
        <p:nvSpPr>
          <p:cNvPr id="9" name="Text 7"/>
          <p:cNvSpPr/>
          <p:nvPr/>
        </p:nvSpPr>
        <p:spPr>
          <a:xfrm>
            <a:off x="548640" y="3749040"/>
            <a:ext cx="5010729" cy="41148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Gap to close before the umbrella can be written</a:t>
            </a:r>
            <a:endParaRPr lang="en-US" sz="1500" dirty="0"/>
          </a:p>
        </p:txBody>
      </p:sp>
      <p:sp>
        <p:nvSpPr>
          <p:cNvPr id="10" name="Text 8"/>
          <p:cNvSpPr/>
          <p:nvPr/>
        </p:nvSpPr>
        <p:spPr>
          <a:xfrm>
            <a:off x="5559369" y="3749040"/>
            <a:ext cx="1645920" cy="411480"/>
          </a:xfrm>
          <a:prstGeom prst="rect">
            <a:avLst/>
          </a:prstGeom>
          <a:noFill/>
          <a:ln/>
        </p:spPr>
        <p:txBody>
          <a:bodyPr wrap="square" lIns="0" tIns="0" rIns="0" bIns="0" rtlCol="0" anchor="ctr"/>
          <a:lstStyle/>
          <a:p>
            <a:pPr algn="r" indent="0" marL="0">
              <a:buNone/>
            </a:pPr>
            <a:r>
              <a:rPr lang="en-US" sz="1700" b="1" dirty="0">
                <a:solidFill>
                  <a:srgbClr val="221F1A"/>
                </a:solidFill>
                <a:latin typeface="Archivo" pitchFamily="34" charset="0"/>
                <a:ea typeface="Archivo" pitchFamily="34" charset="-122"/>
                <a:cs typeface="Archivo" pitchFamily="34" charset="-120"/>
              </a:rPr>
              <a:t>$150,000</a:t>
            </a:r>
            <a:endParaRPr lang="en-US" sz="1700" dirty="0"/>
          </a:p>
        </p:txBody>
      </p:sp>
      <p:sp>
        <p:nvSpPr>
          <p:cNvPr id="11" name="Shape 9"/>
          <p:cNvSpPr/>
          <p:nvPr/>
        </p:nvSpPr>
        <p:spPr>
          <a:xfrm>
            <a:off x="548640" y="3703320"/>
            <a:ext cx="6656649" cy="18288"/>
          </a:xfrm>
          <a:prstGeom prst="rect">
            <a:avLst/>
          </a:prstGeom>
          <a:solidFill>
            <a:srgbClr val="221F1A"/>
          </a:solidFill>
          <a:ln w="12700">
            <a:solidFill>
              <a:srgbClr val="221F1A"/>
            </a:solidFill>
            <a:prstDash val="solid"/>
          </a:ln>
        </p:spPr>
      </p:sp>
      <p:sp>
        <p:nvSpPr>
          <p:cNvPr id="12" name="Shape 10"/>
          <p:cNvSpPr/>
          <p:nvPr/>
        </p:nvSpPr>
        <p:spPr>
          <a:xfrm>
            <a:off x="7870954" y="1554480"/>
            <a:ext cx="3772101" cy="2926080"/>
          </a:xfrm>
          <a:prstGeom prst="rect">
            <a:avLst/>
          </a:prstGeom>
          <a:solidFill>
            <a:srgbClr val="FCE6E0"/>
          </a:solidFill>
          <a:ln w="12700">
            <a:solidFill>
              <a:srgbClr val="FCE6E0"/>
            </a:solidFill>
            <a:prstDash val="solid"/>
          </a:ln>
        </p:spPr>
      </p:sp>
      <p:sp>
        <p:nvSpPr>
          <p:cNvPr id="13" name="Text 11"/>
          <p:cNvSpPr/>
          <p:nvPr/>
        </p:nvSpPr>
        <p:spPr>
          <a:xfrm>
            <a:off x="8145274" y="1783080"/>
            <a:ext cx="3223461" cy="365760"/>
          </a:xfrm>
          <a:prstGeom prst="rect">
            <a:avLst/>
          </a:prstGeom>
          <a:noFill/>
          <a:ln/>
        </p:spPr>
        <p:txBody>
          <a:bodyPr wrap="square" lIns="0" tIns="0" rIns="0" bIns="0" rtlCol="0" anchor="ctr"/>
          <a:lstStyle/>
          <a:p>
            <a:pPr indent="0" marL="0">
              <a:buNone/>
            </a:pPr>
            <a:r>
              <a:rPr lang="en-US" sz="1500" b="1" dirty="0">
                <a:solidFill>
                  <a:srgbClr val="551A0C"/>
                </a:solidFill>
                <a:latin typeface="Archivo" pitchFamily="34" charset="0"/>
                <a:ea typeface="Archivo" pitchFamily="34" charset="-122"/>
                <a:cs typeface="Archivo" pitchFamily="34" charset="-120"/>
              </a:rPr>
              <a:t>Or: keep what you have</a:t>
            </a:r>
            <a:endParaRPr lang="en-US" sz="1500" dirty="0"/>
          </a:p>
        </p:txBody>
      </p:sp>
      <p:sp>
        <p:nvSpPr>
          <p:cNvPr id="14" name="Text 12"/>
          <p:cNvSpPr/>
          <p:nvPr/>
        </p:nvSpPr>
        <p:spPr>
          <a:xfrm>
            <a:off x="8145274" y="2194560"/>
            <a:ext cx="3223461" cy="2103120"/>
          </a:xfrm>
          <a:prstGeom prst="rect">
            <a:avLst/>
          </a:prstGeom>
          <a:noFill/>
          <a:ln/>
        </p:spPr>
        <p:txBody>
          <a:bodyPr wrap="square" lIns="0" tIns="0" rIns="0" bIns="0" rtlCol="0" anchor="t"/>
          <a:lstStyle/>
          <a:p>
            <a:pPr indent="0" marL="0">
              <a:buNone/>
            </a:pPr>
            <a:r>
              <a:rPr lang="en-US" sz="1400" dirty="0">
                <a:solidFill>
                  <a:srgbClr val="551A0C"/>
                </a:solidFill>
                <a:latin typeface="Source Serif 4" pitchFamily="34" charset="0"/>
                <a:ea typeface="Source Serif 4" pitchFamily="34" charset="-122"/>
                <a:cs typeface="Source Serif 4" pitchFamily="34" charset="-120"/>
              </a:rPr>
              <a:t>If the current limits already meet the umbrella carrier's requirement, or the umbrella is protecting assets you do not have, the right answer is to change nothing. We say so.</a:t>
            </a:r>
            <a:endParaRPr lang="en-US" sz="1400" dirty="0"/>
          </a:p>
        </p:txBody>
      </p:sp>
      <p:sp>
        <p:nvSpPr>
          <p:cNvPr id="15" name="Text 13"/>
          <p:cNvSpPr/>
          <p:nvPr/>
        </p:nvSpPr>
        <p:spPr>
          <a:xfrm>
            <a:off x="548640" y="5257800"/>
            <a:ext cx="11094415" cy="274320"/>
          </a:xfrm>
          <a:prstGeom prst="rect">
            <a:avLst/>
          </a:prstGeom>
          <a:noFill/>
          <a:ln/>
        </p:spPr>
        <p:txBody>
          <a:bodyPr wrap="square" lIns="0" tIns="0" rIns="0" bIns="0" rtlCol="0" anchor="t"/>
          <a:lstStyle/>
          <a:p>
            <a:pPr indent="0" marL="0">
              <a:buNone/>
            </a:pPr>
            <a:r>
              <a:rPr lang="en-US" sz="1100" dirty="0">
                <a:solidFill>
                  <a:srgbClr val="605A52"/>
                </a:solidFill>
                <a:latin typeface="Archivo" pitchFamily="34" charset="0"/>
                <a:ea typeface="Archivo" pitchFamily="34" charset="-122"/>
                <a:cs typeface="Archivo" pitchFamily="34" charset="-120"/>
              </a:rPr>
              <a:t>Illustrative figures for layout review. Not a quote.</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t"/>
          <a:lstStyle/>
          <a:p>
            <a:pPr indent="0" marL="0">
              <a:buNone/>
            </a:pPr>
            <a:r>
              <a:rPr lang="en-US" sz="3000" b="1" dirty="0">
                <a:solidFill>
                  <a:srgbClr val="221F1A"/>
                </a:solidFill>
                <a:latin typeface="Archivo" pitchFamily="34" charset="0"/>
                <a:ea typeface="Archivo" pitchFamily="34" charset="-122"/>
                <a:cs typeface="Archivo" pitchFamily="34" charset="-120"/>
              </a:rPr>
              <a:t>Coverage summary</a:t>
            </a:r>
            <a:endParaRPr lang="en-US" sz="3000" dirty="0"/>
          </a:p>
        </p:txBody>
      </p:sp>
      <p:sp>
        <p:nvSpPr>
          <p:cNvPr id="3" name="Shape 1"/>
          <p:cNvSpPr/>
          <p:nvPr/>
        </p:nvSpPr>
        <p:spPr>
          <a:xfrm>
            <a:off x="548640" y="1216152"/>
            <a:ext cx="914400" cy="36576"/>
          </a:xfrm>
          <a:prstGeom prst="rect">
            <a:avLst/>
          </a:prstGeom>
          <a:solidFill>
            <a:srgbClr val="923D28"/>
          </a:solidFill>
          <a:ln w="12700">
            <a:solidFill>
              <a:srgbClr val="923D28"/>
            </a:solidFill>
            <a:prstDash val="solid"/>
          </a:ln>
        </p:spPr>
      </p:sp>
      <p:sp>
        <p:nvSpPr>
          <p:cNvPr id="4" name="Text 2"/>
          <p:cNvSpPr/>
          <p:nvPr/>
        </p:nvSpPr>
        <p:spPr>
          <a:xfrm>
            <a:off x="548640" y="1554480"/>
            <a:ext cx="5318608" cy="365760"/>
          </a:xfrm>
          <a:prstGeom prst="rect">
            <a:avLst/>
          </a:prstGeom>
          <a:noFill/>
          <a:ln/>
        </p:spPr>
        <p:txBody>
          <a:bodyPr wrap="square" lIns="0" tIns="0" rIns="0" bIns="0" rtlCol="0" anchor="ctr"/>
          <a:lstStyle/>
          <a:p>
            <a:pPr indent="0" marL="0">
              <a:buNone/>
            </a:pPr>
            <a:r>
              <a:rPr lang="en-US" sz="1500" b="1" dirty="0">
                <a:solidFill>
                  <a:srgbClr val="005243"/>
                </a:solidFill>
                <a:latin typeface="Archivo" pitchFamily="34" charset="0"/>
                <a:ea typeface="Archivo" pitchFamily="34" charset="-122"/>
                <a:cs typeface="Archivo" pitchFamily="34" charset="-120"/>
              </a:rPr>
              <a:t>What is covered</a:t>
            </a:r>
            <a:endParaRPr lang="en-US" sz="1500" dirty="0"/>
          </a:p>
        </p:txBody>
      </p:sp>
      <p:sp>
        <p:nvSpPr>
          <p:cNvPr id="5" name="Text 3"/>
          <p:cNvSpPr/>
          <p:nvPr/>
        </p:nvSpPr>
        <p:spPr>
          <a:xfrm>
            <a:off x="6324448" y="1554480"/>
            <a:ext cx="5318608" cy="365760"/>
          </a:xfrm>
          <a:prstGeom prst="rect">
            <a:avLst/>
          </a:prstGeom>
          <a:noFill/>
          <a:ln/>
        </p:spPr>
        <p:txBody>
          <a:bodyPr wrap="square" lIns="0" tIns="0" rIns="0" bIns="0" rtlCol="0" anchor="ctr"/>
          <a:lstStyle/>
          <a:p>
            <a:pPr indent="0" marL="0">
              <a:buNone/>
            </a:pPr>
            <a:r>
              <a:rPr lang="en-US" sz="1500" b="1" dirty="0">
                <a:solidFill>
                  <a:srgbClr val="610010"/>
                </a:solidFill>
                <a:latin typeface="Archivo" pitchFamily="34" charset="0"/>
                <a:ea typeface="Archivo" pitchFamily="34" charset="-122"/>
                <a:cs typeface="Archivo" pitchFamily="34" charset="-120"/>
              </a:rPr>
              <a:t>What is not</a:t>
            </a:r>
            <a:endParaRPr lang="en-US" sz="1500" dirty="0"/>
          </a:p>
        </p:txBody>
      </p:sp>
      <p:sp>
        <p:nvSpPr>
          <p:cNvPr id="6" name="Text 4"/>
          <p:cNvSpPr/>
          <p:nvPr/>
        </p:nvSpPr>
        <p:spPr>
          <a:xfrm>
            <a:off x="548640" y="201168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Liability for injury and property damage you cause</a:t>
            </a:r>
            <a:endParaRPr lang="en-US" sz="1500" dirty="0"/>
          </a:p>
        </p:txBody>
      </p:sp>
      <p:sp>
        <p:nvSpPr>
          <p:cNvPr id="7" name="Text 5"/>
          <p:cNvSpPr/>
          <p:nvPr/>
        </p:nvSpPr>
        <p:spPr>
          <a:xfrm>
            <a:off x="548640" y="256032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Collision, subject to the deductible</a:t>
            </a:r>
            <a:endParaRPr lang="en-US" sz="1500" dirty="0"/>
          </a:p>
        </p:txBody>
      </p:sp>
      <p:sp>
        <p:nvSpPr>
          <p:cNvPr id="8" name="Text 6"/>
          <p:cNvSpPr/>
          <p:nvPr/>
        </p:nvSpPr>
        <p:spPr>
          <a:xfrm>
            <a:off x="548640" y="310896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Comprehensive: theft, hail, fire, animal strike</a:t>
            </a:r>
            <a:endParaRPr lang="en-US" sz="1500" dirty="0"/>
          </a:p>
        </p:txBody>
      </p:sp>
      <p:sp>
        <p:nvSpPr>
          <p:cNvPr id="9" name="Text 7"/>
          <p:cNvSpPr/>
          <p:nvPr/>
        </p:nvSpPr>
        <p:spPr>
          <a:xfrm>
            <a:off x="548640" y="365760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Uninsured and underinsured motorist</a:t>
            </a:r>
            <a:endParaRPr lang="en-US" sz="1500" dirty="0"/>
          </a:p>
        </p:txBody>
      </p:sp>
      <p:sp>
        <p:nvSpPr>
          <p:cNvPr id="10" name="Text 8"/>
          <p:cNvSpPr/>
          <p:nvPr/>
        </p:nvSpPr>
        <p:spPr>
          <a:xfrm>
            <a:off x="548640" y="420624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Rental reimbursement while a covered repair is made</a:t>
            </a:r>
            <a:endParaRPr lang="en-US" sz="1500" dirty="0"/>
          </a:p>
        </p:txBody>
      </p:sp>
      <p:sp>
        <p:nvSpPr>
          <p:cNvPr id="11" name="Text 9"/>
          <p:cNvSpPr/>
          <p:nvPr/>
        </p:nvSpPr>
        <p:spPr>
          <a:xfrm>
            <a:off x="6324448" y="201168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Wear, mechanical failure and maintenance</a:t>
            </a:r>
            <a:endParaRPr lang="en-US" sz="1500" dirty="0"/>
          </a:p>
        </p:txBody>
      </p:sp>
      <p:sp>
        <p:nvSpPr>
          <p:cNvPr id="12" name="Text 10"/>
          <p:cNvSpPr/>
          <p:nvPr/>
        </p:nvSpPr>
        <p:spPr>
          <a:xfrm>
            <a:off x="6324448" y="256032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Flood damage to a home (separate policy)</a:t>
            </a:r>
            <a:endParaRPr lang="en-US" sz="1500" dirty="0"/>
          </a:p>
        </p:txBody>
      </p:sp>
      <p:sp>
        <p:nvSpPr>
          <p:cNvPr id="13" name="Text 11"/>
          <p:cNvSpPr/>
          <p:nvPr/>
        </p:nvSpPr>
        <p:spPr>
          <a:xfrm>
            <a:off x="6324448" y="310896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Business use of a personal vehicle unless endorsed</a:t>
            </a:r>
            <a:endParaRPr lang="en-US" sz="1500" dirty="0"/>
          </a:p>
        </p:txBody>
      </p:sp>
      <p:sp>
        <p:nvSpPr>
          <p:cNvPr id="14" name="Text 12"/>
          <p:cNvSpPr/>
          <p:nvPr/>
        </p:nvSpPr>
        <p:spPr>
          <a:xfrm>
            <a:off x="6324448" y="365760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Intentional damage</a:t>
            </a:r>
            <a:endParaRPr lang="en-US" sz="1500" dirty="0"/>
          </a:p>
        </p:txBody>
      </p:sp>
      <p:sp>
        <p:nvSpPr>
          <p:cNvPr id="15" name="Text 13"/>
          <p:cNvSpPr/>
          <p:nvPr/>
        </p:nvSpPr>
        <p:spPr>
          <a:xfrm>
            <a:off x="6324448" y="4206240"/>
            <a:ext cx="5318608" cy="50292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Earth movement unless endorsed</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t"/>
          <a:lstStyle/>
          <a:p>
            <a:pPr indent="0" marL="0">
              <a:buNone/>
            </a:pPr>
            <a:r>
              <a:rPr lang="en-US" sz="3000" b="1" dirty="0">
                <a:solidFill>
                  <a:srgbClr val="221F1A"/>
                </a:solidFill>
                <a:latin typeface="Archivo" pitchFamily="34" charset="0"/>
                <a:ea typeface="Archivo" pitchFamily="34" charset="-122"/>
                <a:cs typeface="Archivo" pitchFamily="34" charset="-120"/>
              </a:rPr>
              <a:t>Next steps</a:t>
            </a:r>
            <a:endParaRPr lang="en-US" sz="3000" dirty="0"/>
          </a:p>
        </p:txBody>
      </p:sp>
      <p:sp>
        <p:nvSpPr>
          <p:cNvPr id="3" name="Shape 1"/>
          <p:cNvSpPr/>
          <p:nvPr/>
        </p:nvSpPr>
        <p:spPr>
          <a:xfrm>
            <a:off x="548640" y="1216152"/>
            <a:ext cx="914400" cy="36576"/>
          </a:xfrm>
          <a:prstGeom prst="rect">
            <a:avLst/>
          </a:prstGeom>
          <a:solidFill>
            <a:srgbClr val="923D28"/>
          </a:solidFill>
          <a:ln w="12700">
            <a:solidFill>
              <a:srgbClr val="923D28"/>
            </a:solidFill>
            <a:prstDash val="solid"/>
          </a:ln>
        </p:spPr>
      </p:sp>
      <p:sp>
        <p:nvSpPr>
          <p:cNvPr id="4" name="Text 2"/>
          <p:cNvSpPr/>
          <p:nvPr/>
        </p:nvSpPr>
        <p:spPr>
          <a:xfrm>
            <a:off x="548640" y="1645920"/>
            <a:ext cx="548640" cy="457200"/>
          </a:xfrm>
          <a:prstGeom prst="rect">
            <a:avLst/>
          </a:prstGeom>
          <a:noFill/>
          <a:ln/>
        </p:spPr>
        <p:txBody>
          <a:bodyPr wrap="square" lIns="0" tIns="0" rIns="0" bIns="0" rtlCol="0" anchor="ctr"/>
          <a:lstStyle/>
          <a:p>
            <a:pPr indent="0" marL="0">
              <a:buNone/>
            </a:pPr>
            <a:r>
              <a:rPr lang="en-US" sz="1600" b="1" dirty="0">
                <a:solidFill>
                  <a:srgbClr val="923D28"/>
                </a:solidFill>
                <a:latin typeface="Archivo" pitchFamily="34" charset="0"/>
                <a:ea typeface="Archivo" pitchFamily="34" charset="-122"/>
                <a:cs typeface="Archivo" pitchFamily="34" charset="-120"/>
              </a:rPr>
              <a:t>01</a:t>
            </a:r>
            <a:endParaRPr lang="en-US" sz="1600" dirty="0"/>
          </a:p>
        </p:txBody>
      </p:sp>
      <p:sp>
        <p:nvSpPr>
          <p:cNvPr id="5" name="Text 3"/>
          <p:cNvSpPr/>
          <p:nvPr/>
        </p:nvSpPr>
        <p:spPr>
          <a:xfrm>
            <a:off x="1188720" y="1645920"/>
            <a:ext cx="10454335" cy="457200"/>
          </a:xfrm>
          <a:prstGeom prst="rect">
            <a:avLst/>
          </a:prstGeom>
          <a:noFill/>
          <a:ln/>
        </p:spPr>
        <p:txBody>
          <a:bodyPr wrap="square" lIns="0" tIns="0" rIns="0" bIns="0" rtlCol="0" anchor="t"/>
          <a:lstStyle/>
          <a:p>
            <a:pPr indent="0" marL="0">
              <a:buNone/>
            </a:pPr>
            <a:r>
              <a:rPr lang="en-US" sz="1900" dirty="0">
                <a:solidFill>
                  <a:srgbClr val="221F1A"/>
                </a:solidFill>
                <a:latin typeface="Source Serif 4" pitchFamily="34" charset="0"/>
                <a:ea typeface="Source Serif 4" pitchFamily="34" charset="-122"/>
                <a:cs typeface="Source Serif 4" pitchFamily="34" charset="-120"/>
              </a:rPr>
              <a:t>Send the current declarations pages</a:t>
            </a:r>
            <a:endParaRPr lang="en-US" sz="1900" dirty="0"/>
          </a:p>
        </p:txBody>
      </p:sp>
      <p:sp>
        <p:nvSpPr>
          <p:cNvPr id="6" name="Text 4"/>
          <p:cNvSpPr/>
          <p:nvPr/>
        </p:nvSpPr>
        <p:spPr>
          <a:xfrm>
            <a:off x="1188720" y="2057400"/>
            <a:ext cx="10454335" cy="274320"/>
          </a:xfrm>
          <a:prstGeom prst="rect">
            <a:avLst/>
          </a:prstGeom>
          <a:noFill/>
          <a:ln/>
        </p:spPr>
        <p:txBody>
          <a:bodyPr wrap="square" lIns="0" tIns="0" rIns="0" bIns="0" rtlCol="0" anchor="t"/>
          <a:lstStyle/>
          <a:p>
            <a:pPr indent="0" marL="0">
              <a:buNone/>
            </a:pPr>
            <a:r>
              <a:rPr lang="en-US" sz="1200" dirty="0">
                <a:solidFill>
                  <a:srgbClr val="605A52"/>
                </a:solidFill>
                <a:latin typeface="Archivo" pitchFamily="34" charset="0"/>
                <a:ea typeface="Archivo" pitchFamily="34" charset="-122"/>
                <a:cs typeface="Archivo" pitchFamily="34" charset="-120"/>
              </a:rPr>
              <a:t>{{TODO:client.name}}  ·  {{TODO:date}}</a:t>
            </a:r>
            <a:endParaRPr lang="en-US" sz="1200" dirty="0"/>
          </a:p>
        </p:txBody>
      </p:sp>
      <p:sp>
        <p:nvSpPr>
          <p:cNvPr id="7" name="Text 5"/>
          <p:cNvSpPr/>
          <p:nvPr/>
        </p:nvSpPr>
        <p:spPr>
          <a:xfrm>
            <a:off x="548640" y="2560320"/>
            <a:ext cx="548640" cy="457200"/>
          </a:xfrm>
          <a:prstGeom prst="rect">
            <a:avLst/>
          </a:prstGeom>
          <a:noFill/>
          <a:ln/>
        </p:spPr>
        <p:txBody>
          <a:bodyPr wrap="square" lIns="0" tIns="0" rIns="0" bIns="0" rtlCol="0" anchor="ctr"/>
          <a:lstStyle/>
          <a:p>
            <a:pPr indent="0" marL="0">
              <a:buNone/>
            </a:pPr>
            <a:r>
              <a:rPr lang="en-US" sz="1600" b="1" dirty="0">
                <a:solidFill>
                  <a:srgbClr val="923D28"/>
                </a:solidFill>
                <a:latin typeface="Archivo" pitchFamily="34" charset="0"/>
                <a:ea typeface="Archivo" pitchFamily="34" charset="-122"/>
                <a:cs typeface="Archivo" pitchFamily="34" charset="-120"/>
              </a:rPr>
              <a:t>02</a:t>
            </a:r>
            <a:endParaRPr lang="en-US" sz="1600" dirty="0"/>
          </a:p>
        </p:txBody>
      </p:sp>
      <p:sp>
        <p:nvSpPr>
          <p:cNvPr id="8" name="Text 6"/>
          <p:cNvSpPr/>
          <p:nvPr/>
        </p:nvSpPr>
        <p:spPr>
          <a:xfrm>
            <a:off x="1188720" y="2560320"/>
            <a:ext cx="10454335" cy="457200"/>
          </a:xfrm>
          <a:prstGeom prst="rect">
            <a:avLst/>
          </a:prstGeom>
          <a:noFill/>
          <a:ln/>
        </p:spPr>
        <p:txBody>
          <a:bodyPr wrap="square" lIns="0" tIns="0" rIns="0" bIns="0" rtlCol="0" anchor="t"/>
          <a:lstStyle/>
          <a:p>
            <a:pPr indent="0" marL="0">
              <a:buNone/>
            </a:pPr>
            <a:r>
              <a:rPr lang="en-US" sz="1900" dirty="0">
                <a:solidFill>
                  <a:srgbClr val="221F1A"/>
                </a:solidFill>
                <a:latin typeface="Source Serif 4" pitchFamily="34" charset="0"/>
                <a:ea typeface="Source Serif 4" pitchFamily="34" charset="-122"/>
                <a:cs typeface="Source Serif 4" pitchFamily="34" charset="-120"/>
              </a:rPr>
              <a:t>Return the comparison with real quotes</a:t>
            </a:r>
            <a:endParaRPr lang="en-US" sz="1900" dirty="0"/>
          </a:p>
        </p:txBody>
      </p:sp>
      <p:sp>
        <p:nvSpPr>
          <p:cNvPr id="9" name="Text 7"/>
          <p:cNvSpPr/>
          <p:nvPr/>
        </p:nvSpPr>
        <p:spPr>
          <a:xfrm>
            <a:off x="1188720" y="2971800"/>
            <a:ext cx="10454335" cy="274320"/>
          </a:xfrm>
          <a:prstGeom prst="rect">
            <a:avLst/>
          </a:prstGeom>
          <a:noFill/>
          <a:ln/>
        </p:spPr>
        <p:txBody>
          <a:bodyPr wrap="square" lIns="0" tIns="0" rIns="0" bIns="0" rtlCol="0" anchor="t"/>
          <a:lstStyle/>
          <a:p>
            <a:pPr indent="0" marL="0">
              <a:buNone/>
            </a:pPr>
            <a:r>
              <a:rPr lang="en-US" sz="1200" dirty="0">
                <a:solidFill>
                  <a:srgbClr val="605A52"/>
                </a:solidFill>
                <a:latin typeface="Archivo" pitchFamily="34" charset="0"/>
                <a:ea typeface="Archivo" pitchFamily="34" charset="-122"/>
                <a:cs typeface="Archivo" pitchFamily="34" charset="-120"/>
              </a:rPr>
              <a:t>Daniel {{TODO:people.daniel.lastName}}  ·  {{TODO:date}}</a:t>
            </a:r>
            <a:endParaRPr lang="en-US" sz="1200" dirty="0"/>
          </a:p>
        </p:txBody>
      </p:sp>
      <p:sp>
        <p:nvSpPr>
          <p:cNvPr id="10" name="Text 8"/>
          <p:cNvSpPr/>
          <p:nvPr/>
        </p:nvSpPr>
        <p:spPr>
          <a:xfrm>
            <a:off x="548640" y="3474720"/>
            <a:ext cx="548640" cy="457200"/>
          </a:xfrm>
          <a:prstGeom prst="rect">
            <a:avLst/>
          </a:prstGeom>
          <a:noFill/>
          <a:ln/>
        </p:spPr>
        <p:txBody>
          <a:bodyPr wrap="square" lIns="0" tIns="0" rIns="0" bIns="0" rtlCol="0" anchor="ctr"/>
          <a:lstStyle/>
          <a:p>
            <a:pPr indent="0" marL="0">
              <a:buNone/>
            </a:pPr>
            <a:r>
              <a:rPr lang="en-US" sz="1600" b="1" dirty="0">
                <a:solidFill>
                  <a:srgbClr val="923D28"/>
                </a:solidFill>
                <a:latin typeface="Archivo" pitchFamily="34" charset="0"/>
                <a:ea typeface="Archivo" pitchFamily="34" charset="-122"/>
                <a:cs typeface="Archivo" pitchFamily="34" charset="-120"/>
              </a:rPr>
              <a:t>03</a:t>
            </a:r>
            <a:endParaRPr lang="en-US" sz="1600" dirty="0"/>
          </a:p>
        </p:txBody>
      </p:sp>
      <p:sp>
        <p:nvSpPr>
          <p:cNvPr id="11" name="Text 9"/>
          <p:cNvSpPr/>
          <p:nvPr/>
        </p:nvSpPr>
        <p:spPr>
          <a:xfrm>
            <a:off x="1188720" y="3474720"/>
            <a:ext cx="10454335" cy="457200"/>
          </a:xfrm>
          <a:prstGeom prst="rect">
            <a:avLst/>
          </a:prstGeom>
          <a:noFill/>
          <a:ln/>
        </p:spPr>
        <p:txBody>
          <a:bodyPr wrap="square" lIns="0" tIns="0" rIns="0" bIns="0" rtlCol="0" anchor="t"/>
          <a:lstStyle/>
          <a:p>
            <a:pPr indent="0" marL="0">
              <a:buNone/>
            </a:pPr>
            <a:r>
              <a:rPr lang="en-US" sz="1900" dirty="0">
                <a:solidFill>
                  <a:srgbClr val="221F1A"/>
                </a:solidFill>
                <a:latin typeface="Source Serif 4" pitchFamily="34" charset="0"/>
                <a:ea typeface="Source Serif 4" pitchFamily="34" charset="-122"/>
                <a:cs typeface="Source Serif 4" pitchFamily="34" charset="-120"/>
              </a:rPr>
              <a:t>Decide, or decide to change nothing</a:t>
            </a:r>
            <a:endParaRPr lang="en-US" sz="1900" dirty="0"/>
          </a:p>
        </p:txBody>
      </p:sp>
      <p:sp>
        <p:nvSpPr>
          <p:cNvPr id="12" name="Text 10"/>
          <p:cNvSpPr/>
          <p:nvPr/>
        </p:nvSpPr>
        <p:spPr>
          <a:xfrm>
            <a:off x="1188720" y="3886200"/>
            <a:ext cx="10454335" cy="274320"/>
          </a:xfrm>
          <a:prstGeom prst="rect">
            <a:avLst/>
          </a:prstGeom>
          <a:noFill/>
          <a:ln/>
        </p:spPr>
        <p:txBody>
          <a:bodyPr wrap="square" lIns="0" tIns="0" rIns="0" bIns="0" rtlCol="0" anchor="t"/>
          <a:lstStyle/>
          <a:p>
            <a:pPr indent="0" marL="0">
              <a:buNone/>
            </a:pPr>
            <a:r>
              <a:rPr lang="en-US" sz="1200" dirty="0">
                <a:solidFill>
                  <a:srgbClr val="605A52"/>
                </a:solidFill>
                <a:latin typeface="Archivo" pitchFamily="34" charset="0"/>
                <a:ea typeface="Archivo" pitchFamily="34" charset="-122"/>
                <a:cs typeface="Archivo" pitchFamily="34" charset="-120"/>
              </a:rPr>
              <a:t>Together  ·  {{TODO:date}}</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t"/>
          <a:lstStyle/>
          <a:p>
            <a:pPr indent="0" marL="0">
              <a:buNone/>
            </a:pPr>
            <a:r>
              <a:rPr lang="en-US" sz="3000" b="1" dirty="0">
                <a:solidFill>
                  <a:srgbClr val="221F1A"/>
                </a:solidFill>
                <a:latin typeface="Archivo" pitchFamily="34" charset="0"/>
                <a:ea typeface="Archivo" pitchFamily="34" charset="-122"/>
                <a:cs typeface="Archivo" pitchFamily="34" charset="-120"/>
              </a:rPr>
              <a:t>Disclosure</a:t>
            </a:r>
            <a:endParaRPr lang="en-US" sz="3000" dirty="0"/>
          </a:p>
        </p:txBody>
      </p:sp>
      <p:sp>
        <p:nvSpPr>
          <p:cNvPr id="3" name="Shape 1"/>
          <p:cNvSpPr/>
          <p:nvPr/>
        </p:nvSpPr>
        <p:spPr>
          <a:xfrm>
            <a:off x="548640" y="1216152"/>
            <a:ext cx="914400" cy="36576"/>
          </a:xfrm>
          <a:prstGeom prst="rect">
            <a:avLst/>
          </a:prstGeom>
          <a:solidFill>
            <a:srgbClr val="923D28"/>
          </a:solidFill>
          <a:ln w="12700">
            <a:solidFill>
              <a:srgbClr val="923D28"/>
            </a:solidFill>
            <a:prstDash val="solid"/>
          </a:ln>
        </p:spPr>
      </p:sp>
      <p:sp>
        <p:nvSpPr>
          <p:cNvPr id="4" name="Text 2"/>
          <p:cNvSpPr/>
          <p:nvPr/>
        </p:nvSpPr>
        <p:spPr>
          <a:xfrm>
            <a:off x="548640" y="1554480"/>
            <a:ext cx="11094415" cy="548640"/>
          </a:xfrm>
          <a:prstGeom prst="rect">
            <a:avLst/>
          </a:prstGeom>
          <a:noFill/>
          <a:ln/>
        </p:spPr>
        <p:txBody>
          <a:bodyPr wrap="square" lIns="0" tIns="0" rIns="0" bIns="0" rtlCol="0" anchor="t"/>
          <a:lstStyle/>
          <a:p>
            <a:pPr indent="0" marL="0">
              <a:buNone/>
            </a:pPr>
            <a:r>
              <a:rPr lang="en-US" sz="1500" dirty="0">
                <a:solidFill>
                  <a:srgbClr val="221F1A"/>
                </a:solidFill>
                <a:latin typeface="Source Serif 4" pitchFamily="34" charset="0"/>
                <a:ea typeface="Source Serif 4" pitchFamily="34" charset="-122"/>
                <a:cs typeface="Source Serif 4" pitchFamily="34" charset="-120"/>
              </a:rPr>
              <a:t>Desert Peak Insurance is an independent agency, not an insurer. No coverage is bound by this presentation.</a:t>
            </a:r>
            <a:endParaRPr lang="en-US" sz="1500" dirty="0"/>
          </a:p>
        </p:txBody>
      </p:sp>
      <p:sp>
        <p:nvSpPr>
          <p:cNvPr id="5" name="Text 3"/>
          <p:cNvSpPr/>
          <p:nvPr/>
        </p:nvSpPr>
        <p:spPr>
          <a:xfrm>
            <a:off x="548640" y="2194560"/>
            <a:ext cx="11094415" cy="731520"/>
          </a:xfrm>
          <a:prstGeom prst="rect">
            <a:avLst/>
          </a:prstGeom>
          <a:noFill/>
          <a:ln/>
        </p:spPr>
        <p:txBody>
          <a:bodyPr wrap="square" lIns="0" tIns="0" rIns="0" bIns="0" rtlCol="0" anchor="t"/>
          <a:lstStyle/>
          <a:p>
            <a:pPr indent="0" marL="0">
              <a:buNone/>
            </a:pPr>
            <a:r>
              <a:rPr lang="en-US" sz="1300" dirty="0">
                <a:solidFill>
                  <a:srgbClr val="605A52"/>
                </a:solidFill>
                <a:latin typeface="Source Serif 4" pitchFamily="34" charset="0"/>
                <a:ea typeface="Source Serif 4" pitchFamily="34" charset="-122"/>
                <a:cs typeface="Source Serif 4" pitchFamily="34" charset="-120"/>
              </a:rPr>
              <a:t>Licensed in AZ, ID, NV, UT. AZ {{TODO:people.daniel.license.AZ}} · ID {{TODO:people.daniel.license.ID}} · NV {{TODO:people.daniel.license.NV}} · UT {{TODO:people.daniel.license.UT}}.</a:t>
            </a:r>
            <a:endParaRPr lang="en-US" sz="1300" dirty="0"/>
          </a:p>
        </p:txBody>
      </p:sp>
      <p:sp>
        <p:nvSpPr>
          <p:cNvPr id="6" name="Text 4"/>
          <p:cNvSpPr/>
          <p:nvPr/>
        </p:nvSpPr>
        <p:spPr>
          <a:xfrm>
            <a:off x="548640" y="5120640"/>
            <a:ext cx="11094415" cy="365760"/>
          </a:xfrm>
          <a:prstGeom prst="rect">
            <a:avLst/>
          </a:prstGeom>
          <a:noFill/>
          <a:ln/>
        </p:spPr>
        <p:txBody>
          <a:bodyPr wrap="square" lIns="0" tIns="0" rIns="0" bIns="0" rtlCol="0" anchor="t"/>
          <a:lstStyle/>
          <a:p>
            <a:pPr indent="0" marL="0">
              <a:buNone/>
            </a:pPr>
            <a:r>
              <a:rPr lang="en-US" sz="1100" dirty="0">
                <a:solidFill>
                  <a:srgbClr val="605A52"/>
                </a:solidFill>
                <a:latin typeface="Archivo" pitchFamily="34" charset="0"/>
                <a:ea typeface="Archivo" pitchFamily="34" charset="-122"/>
                <a:cs typeface="Archivo" pitchFamily="34" charset="-120"/>
              </a:rPr>
              <a:t>Illustrative figures in this deck are for layout review and are not quotes. Generated 2026-09-13 from people.json and collateral.config.json.</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02920"/>
            <a:ext cx="11094415" cy="640080"/>
          </a:xfrm>
          <a:prstGeom prst="rect">
            <a:avLst/>
          </a:prstGeom>
          <a:noFill/>
          <a:ln/>
        </p:spPr>
        <p:txBody>
          <a:bodyPr wrap="square" lIns="0" tIns="0" rIns="0" bIns="0" rtlCol="0" anchor="t"/>
          <a:lstStyle/>
          <a:p>
            <a:pPr indent="0" marL="0">
              <a:buNone/>
            </a:pPr>
            <a:r>
              <a:rPr lang="en-US" sz="3000" b="1" dirty="0">
                <a:solidFill>
                  <a:srgbClr val="221F1A"/>
                </a:solidFill>
                <a:latin typeface="Archivo" pitchFamily="34" charset="0"/>
                <a:ea typeface="Archivo" pitchFamily="34" charset="-122"/>
                <a:cs typeface="Archivo" pitchFamily="34" charset="-120"/>
              </a:rPr>
              <a:t>Contact</a:t>
            </a:r>
            <a:endParaRPr lang="en-US" sz="3000" dirty="0"/>
          </a:p>
        </p:txBody>
      </p:sp>
      <p:sp>
        <p:nvSpPr>
          <p:cNvPr id="3" name="Shape 1"/>
          <p:cNvSpPr/>
          <p:nvPr/>
        </p:nvSpPr>
        <p:spPr>
          <a:xfrm>
            <a:off x="548640" y="1216152"/>
            <a:ext cx="914400" cy="36576"/>
          </a:xfrm>
          <a:prstGeom prst="rect">
            <a:avLst/>
          </a:prstGeom>
          <a:solidFill>
            <a:srgbClr val="923D28"/>
          </a:solidFill>
          <a:ln w="12700">
            <a:solidFill>
              <a:srgbClr val="923D28"/>
            </a:solidFill>
            <a:prstDash val="solid"/>
          </a:ln>
        </p:spPr>
      </p:sp>
      <p:sp>
        <p:nvSpPr>
          <p:cNvPr id="4" name="Text 2"/>
          <p:cNvSpPr/>
          <p:nvPr/>
        </p:nvSpPr>
        <p:spPr>
          <a:xfrm>
            <a:off x="548640" y="1645920"/>
            <a:ext cx="11094415" cy="457200"/>
          </a:xfrm>
          <a:prstGeom prst="rect">
            <a:avLst/>
          </a:prstGeom>
          <a:noFill/>
          <a:ln/>
        </p:spPr>
        <p:txBody>
          <a:bodyPr wrap="square" lIns="0" tIns="0" rIns="0" bIns="0" rtlCol="0" anchor="ctr"/>
          <a:lstStyle/>
          <a:p>
            <a:pPr indent="0" marL="0">
              <a:buNone/>
            </a:pPr>
            <a:r>
              <a:rPr lang="en-US" sz="2200" b="1" dirty="0">
                <a:solidFill>
                  <a:srgbClr val="221F1A"/>
                </a:solidFill>
                <a:latin typeface="Archivo" pitchFamily="34" charset="0"/>
                <a:ea typeface="Archivo" pitchFamily="34" charset="-122"/>
                <a:cs typeface="Archivo" pitchFamily="34" charset="-120"/>
              </a:rPr>
              <a:t>Daniel {{TODO:people.daniel.lastName}}</a:t>
            </a:r>
            <a:endParaRPr lang="en-US" sz="2200" dirty="0"/>
          </a:p>
        </p:txBody>
      </p:sp>
      <p:sp>
        <p:nvSpPr>
          <p:cNvPr id="5" name="Text 3"/>
          <p:cNvSpPr/>
          <p:nvPr/>
        </p:nvSpPr>
        <p:spPr>
          <a:xfrm>
            <a:off x="548640" y="2148840"/>
            <a:ext cx="11094415" cy="365760"/>
          </a:xfrm>
          <a:prstGeom prst="rect">
            <a:avLst/>
          </a:prstGeom>
          <a:noFill/>
          <a:ln/>
        </p:spPr>
        <p:txBody>
          <a:bodyPr wrap="square" lIns="0" tIns="0" rIns="0" bIns="0" rtlCol="0" anchor="t"/>
          <a:lstStyle/>
          <a:p>
            <a:pPr indent="0" marL="0">
              <a:buNone/>
            </a:pPr>
            <a:r>
              <a:rPr lang="en-US" sz="1600" dirty="0">
                <a:solidFill>
                  <a:srgbClr val="605A52"/>
                </a:solidFill>
                <a:latin typeface="Source Serif 4" pitchFamily="34" charset="0"/>
                <a:ea typeface="Source Serif 4" pitchFamily="34" charset="-122"/>
                <a:cs typeface="Source Serif 4" pitchFamily="34" charset="-120"/>
              </a:rPr>
              <a:t>Principal, Desert Peak Insurance</a:t>
            </a:r>
            <a:endParaRPr lang="en-US" sz="1600" dirty="0"/>
          </a:p>
        </p:txBody>
      </p:sp>
      <p:sp>
        <p:nvSpPr>
          <p:cNvPr id="6" name="Text 4"/>
          <p:cNvSpPr/>
          <p:nvPr/>
        </p:nvSpPr>
        <p:spPr>
          <a:xfrm>
            <a:off x="548640" y="2743200"/>
            <a:ext cx="11094415" cy="365760"/>
          </a:xfrm>
          <a:prstGeom prst="rect">
            <a:avLst/>
          </a:prstGeom>
          <a:noFill/>
          <a:ln/>
        </p:spPr>
        <p:txBody>
          <a:bodyPr wrap="square" lIns="0" tIns="0" rIns="0" bIns="0" rtlCol="0" anchor="t"/>
          <a:lstStyle/>
          <a:p>
            <a:pPr indent="0" marL="0">
              <a:buNone/>
            </a:pPr>
            <a:r>
              <a:rPr lang="en-US" sz="1600" dirty="0">
                <a:solidFill>
                  <a:srgbClr val="221F1A"/>
                </a:solidFill>
                <a:latin typeface="Source Serif 4" pitchFamily="34" charset="0"/>
                <a:ea typeface="Source Serif 4" pitchFamily="34" charset="-122"/>
                <a:cs typeface="Source Serif 4" pitchFamily="34" charset="-120"/>
              </a:rPr>
              <a:t>{{TODO:client.phone}}</a:t>
            </a:r>
            <a:endParaRPr lang="en-US" sz="1600" dirty="0"/>
          </a:p>
        </p:txBody>
      </p:sp>
      <p:sp>
        <p:nvSpPr>
          <p:cNvPr id="7" name="Text 5"/>
          <p:cNvSpPr/>
          <p:nvPr/>
        </p:nvSpPr>
        <p:spPr>
          <a:xfrm>
            <a:off x="548640" y="3154680"/>
            <a:ext cx="11094415" cy="365760"/>
          </a:xfrm>
          <a:prstGeom prst="rect">
            <a:avLst/>
          </a:prstGeom>
          <a:noFill/>
          <a:ln/>
        </p:spPr>
        <p:txBody>
          <a:bodyPr wrap="square" lIns="0" tIns="0" rIns="0" bIns="0" rtlCol="0" anchor="t"/>
          <a:lstStyle/>
          <a:p>
            <a:pPr indent="0" marL="0">
              <a:buNone/>
            </a:pPr>
            <a:r>
              <a:rPr lang="en-US" sz="1600" dirty="0">
                <a:solidFill>
                  <a:srgbClr val="221F1A"/>
                </a:solidFill>
                <a:latin typeface="Source Serif 4" pitchFamily="34" charset="0"/>
                <a:ea typeface="Source Serif 4" pitchFamily="34" charset="-122"/>
                <a:cs typeface="Source Serif 4" pitchFamily="34" charset="-120"/>
              </a:rPr>
              <a:t>daniel@desertpeakinsurance.com</a:t>
            </a:r>
            <a:endParaRPr lang="en-US" sz="1600" dirty="0"/>
          </a:p>
        </p:txBody>
      </p:sp>
      <p:sp>
        <p:nvSpPr>
          <p:cNvPr id="8" name="Text 6"/>
          <p:cNvSpPr/>
          <p:nvPr/>
        </p:nvSpPr>
        <p:spPr>
          <a:xfrm>
            <a:off x="548640" y="3566160"/>
            <a:ext cx="11094415" cy="365760"/>
          </a:xfrm>
          <a:prstGeom prst="rect">
            <a:avLst/>
          </a:prstGeom>
          <a:noFill/>
          <a:ln/>
        </p:spPr>
        <p:txBody>
          <a:bodyPr wrap="square" lIns="0" tIns="0" rIns="0" bIns="0" rtlCol="0" anchor="t"/>
          <a:lstStyle/>
          <a:p>
            <a:pPr indent="0" marL="0">
              <a:buNone/>
            </a:pPr>
            <a:r>
              <a:rPr lang="en-US" sz="1600" dirty="0">
                <a:solidFill>
                  <a:srgbClr val="221F1A"/>
                </a:solidFill>
                <a:latin typeface="Source Serif 4" pitchFamily="34" charset="0"/>
                <a:ea typeface="Source Serif 4" pitchFamily="34" charset="-122"/>
                <a:cs typeface="Source Serif 4" pitchFamily="34" charset="-120"/>
              </a:rPr>
              <a:t>desertpeakinsurance.com</a:t>
            </a:r>
            <a:endParaRPr lang="en-US" sz="1600" dirty="0"/>
          </a:p>
        </p:txBody>
      </p:sp>
      <p:pic>
        <p:nvPicPr>
          <p:cNvPr id="9" name="Image 0" descr="/home/abuhaithem/Documents/dellisandassociates/desert-peak-brand/web/logos/logo-horizontal@2x.png">    </p:cNvPr>
          <p:cNvPicPr>
            <a:picLocks noChangeAspect="1"/>
          </p:cNvPicPr>
          <p:nvPr/>
        </p:nvPicPr>
        <p:blipFill>
          <a:blip r:embed="rId1"/>
          <a:stretch>
            <a:fillRect/>
          </a:stretch>
        </p:blipFill>
        <p:spPr>
          <a:xfrm>
            <a:off x="8534095" y="5669280"/>
            <a:ext cx="3108960" cy="54864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05A52"/>
                </a:solidFill>
                <a:latin typeface="Archivo"/>
                <a:ea typeface="Archivo"/>
                <a:cs typeface="Archivo"/>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Desert Peak">
      <a:dk1>
        <a:srgbClr val="221F1A"/>
      </a:dk1>
      <a:lt1>
        <a:srgbClr val="FAF4EC"/>
      </a:lt1>
      <a:dk2>
        <a:srgbClr val="605A52"/>
      </a:dk2>
      <a:lt2>
        <a:srgbClr val="F1EAE1"/>
      </a:lt2>
      <a:accent1>
        <a:srgbClr val="923D28"/>
      </a:accent1>
      <a:accent2>
        <a:srgbClr val="9F6C00"/>
      </a:accent2>
      <a:accent3>
        <a:srgbClr val="005243"/>
      </a:accent3>
      <a:accent4>
        <a:srgbClr val="715700"/>
      </a:accent4>
      <a:accent5>
        <a:srgbClr val="610010"/>
      </a:accent5>
      <a:accent6>
        <a:srgbClr val="7C766E"/>
      </a:accent6>
      <a:hlink>
        <a:srgbClr val="923D28"/>
      </a:hlink>
      <a:folHlink>
        <a:srgbClr val="742A18"/>
      </a:folHlink>
    </a:clrScheme>
    <a:fontScheme name="Office">
      <a:majorFont>
        <a:latin typeface="Archivo"/>
        <a:ea typeface=""/>
        <a:cs typeface=""/>
      </a:majorFont>
      <a:minorFont>
        <a:latin typeface="Source Serif 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221F1A">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Desert Peak Insurance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Desert Peak Insurance — Partner meeting</dc:title>
  <dc:subject>Partner meeting</dc:subject>
  <dc:creator>Desert Peak Insurance</dc:creator>
  <cp:lastModifiedBy>Desert Peak Insurance</cp:lastModifiedBy>
  <cp:revision>1</cp:revision>
  <dcterms:created xsi:type="dcterms:W3CDTF">2026-09-13T00:00:00Z</dcterms:created>
  <dcterms:modified xsi:type="dcterms:W3CDTF">2026-09-13T00:00:00Z</dcterms:modified>
</cp:coreProperties>
</file>