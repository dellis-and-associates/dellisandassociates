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once, first. The client name and date come from the deck input file, the presenter from people.json. If the client name still reads as a TODO token, the deck is not ready to present; fix the input and rebuild rather than typing over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five lines. The agenda is the promise of the meeting; if a line is not going to be covered, remove it in the input file. Numbers are set in tabular figures so the list aligns even if you add a sixth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breath between parts. One line, nothing else. Use it before the comparison and before the recommendation; do not use it more than three times in a deck or it stops reading as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the deck exists for. Figures are illustrative until real quotes are entered; replace the whole table from the quote sheet, never a single cell. Keep carriers anonymous as A, B, C until appointments are confirmed in writing. Current policy stays the highlighted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Statutory minimums with their source lines. Every figure here is read from content/state-facts.json, which records the statute, the URL and the date verified; do not type a number on this slide. Utah's limits changed on 1 January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recommendation, the math shown. The third option, keeping what you have, is always visible; say it out loud when it is the right answer. If the math needs more than three lines the recommendation is not clear enough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what is covered and what is not. Read the second column with as much care as the first; it is where claims are lost. Do not soften exclusions with adjectives; the words on this slide are the policy's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at most, each with an owner and a date. If a step has no date it is not a step. This is the last content slide; the disclosure follows and is never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last-but-one slide. The independent-agency line, the licensed states and numbers, and the TPMO disclaimer when Medicare appears anywhere in the deck are generated, not typed. If this slide is missing the build has failed; do not present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details from people.json. Phone and licence numbers appear as TODO tokens until the client supplies them; a token on screen means the deck was built before the data arrived, which is a signal to the room, not an embarrassment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AF4E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INDING">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AGE">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EXT">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SCLOSURE">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ACT">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p:bg>
      <p:bgPr>
        <a:solidFill>
          <a:srgbClr val="110F0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0.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abuhaithem/Documents/dellisandassociates/desert-peak-brand/web/logos/logo-horizontal@2x.png">    </p:cNvPr>
          <p:cNvPicPr>
            <a:picLocks noChangeAspect="1"/>
          </p:cNvPicPr>
          <p:nvPr/>
        </p:nvPicPr>
        <p:blipFill>
          <a:blip r:embed="rId1"/>
          <a:stretch>
            <a:fillRect/>
          </a:stretch>
        </p:blipFill>
        <p:spPr>
          <a:xfrm>
            <a:off x="548640" y="640080"/>
            <a:ext cx="3108960" cy="548640"/>
          </a:xfrm>
          <a:prstGeom prst="rect">
            <a:avLst/>
          </a:prstGeom>
        </p:spPr>
      </p:pic>
      <p:sp>
        <p:nvSpPr>
          <p:cNvPr id="3" name="Text 0"/>
          <p:cNvSpPr/>
          <p:nvPr/>
        </p:nvSpPr>
        <p:spPr>
          <a:xfrm>
            <a:off x="548640" y="2377440"/>
            <a:ext cx="11094415" cy="1097280"/>
          </a:xfrm>
          <a:prstGeom prst="rect">
            <a:avLst/>
          </a:prstGeom>
          <a:noFill/>
          <a:ln/>
        </p:spPr>
        <p:txBody>
          <a:bodyPr wrap="square" lIns="0" tIns="0" rIns="0" bIns="0" rtlCol="0" anchor="ctr"/>
          <a:lstStyle/>
          <a:p>
            <a:pPr indent="0" marL="0">
              <a:buNone/>
            </a:pPr>
            <a:r>
              <a:rPr lang="en-US" sz="4400" b="1" dirty="0">
                <a:solidFill>
                  <a:srgbClr val="221F1A"/>
                </a:solidFill>
                <a:latin typeface="Archivo" pitchFamily="34" charset="0"/>
                <a:ea typeface="Archivo" pitchFamily="34" charset="-122"/>
                <a:cs typeface="Archivo" pitchFamily="34" charset="-120"/>
              </a:rPr>
              <a:t>Coverage review</a:t>
            </a:r>
            <a:endParaRPr lang="en-US" sz="4400" dirty="0"/>
          </a:p>
        </p:txBody>
      </p:sp>
      <p:sp>
        <p:nvSpPr>
          <p:cNvPr id="4" name="Text 1"/>
          <p:cNvSpPr/>
          <p:nvPr/>
        </p:nvSpPr>
        <p:spPr>
          <a:xfrm>
            <a:off x="548640" y="3474720"/>
            <a:ext cx="7766091" cy="822960"/>
          </a:xfrm>
          <a:prstGeom prst="rect">
            <a:avLst/>
          </a:prstGeom>
          <a:noFill/>
          <a:ln/>
        </p:spPr>
        <p:txBody>
          <a:bodyPr wrap="square" lIns="0" tIns="0" rIns="0" bIns="0" rtlCol="0" anchor="ctr"/>
          <a:lstStyle/>
          <a:p>
            <a:pPr indent="0" marL="0">
              <a:buNone/>
            </a:pPr>
            <a:r>
              <a:rPr lang="en-US" sz="2000" dirty="0">
                <a:solidFill>
                  <a:srgbClr val="605A52"/>
                </a:solidFill>
                <a:latin typeface="Source Serif 4" pitchFamily="34" charset="0"/>
                <a:ea typeface="Source Serif 4" pitchFamily="34" charset="-122"/>
                <a:cs typeface="Source Serif 4" pitchFamily="34" charset="-120"/>
              </a:rPr>
              <a:t>What you have, what the state requires, and what we recommend</a:t>
            </a:r>
            <a:endParaRPr lang="en-US" sz="2000" dirty="0"/>
          </a:p>
        </p:txBody>
      </p:sp>
      <p:sp>
        <p:nvSpPr>
          <p:cNvPr id="5" name="Shape 2"/>
          <p:cNvSpPr/>
          <p:nvPr/>
        </p:nvSpPr>
        <p:spPr>
          <a:xfrm>
            <a:off x="548640" y="4754880"/>
            <a:ext cx="914400" cy="36576"/>
          </a:xfrm>
          <a:prstGeom prst="rect">
            <a:avLst/>
          </a:prstGeom>
          <a:solidFill>
            <a:srgbClr val="923D28"/>
          </a:solidFill>
          <a:ln w="12700">
            <a:solidFill>
              <a:srgbClr val="923D28"/>
            </a:solidFill>
            <a:prstDash val="solid"/>
          </a:ln>
        </p:spPr>
      </p:sp>
      <p:sp>
        <p:nvSpPr>
          <p:cNvPr id="6" name="Text 3"/>
          <p:cNvSpPr/>
          <p:nvPr/>
        </p:nvSpPr>
        <p:spPr>
          <a:xfrm>
            <a:off x="548640" y="4983480"/>
            <a:ext cx="11094415" cy="274320"/>
          </a:xfrm>
          <a:prstGeom prst="rect">
            <a:avLst/>
          </a:prstGeom>
          <a:noFill/>
          <a:ln/>
        </p:spPr>
        <p:txBody>
          <a:bodyPr wrap="square" lIns="0" tIns="0" rIns="0" bIns="0" rtlCol="0" anchor="t"/>
          <a:lstStyle/>
          <a:p>
            <a:pPr indent="0" marL="0">
              <a:buNone/>
            </a:pPr>
            <a:r>
              <a:rPr lang="en-US" sz="1300" dirty="0">
                <a:solidFill>
                  <a:srgbClr val="221F1A"/>
                </a:solidFill>
                <a:latin typeface="Archivo" pitchFamily="34" charset="0"/>
                <a:ea typeface="Archivo" pitchFamily="34" charset="-122"/>
                <a:cs typeface="Archivo" pitchFamily="34" charset="-120"/>
              </a:rPr>
              <a:t>Prepared for {{TODO:client.name}}</a:t>
            </a:r>
            <a:endParaRPr lang="en-US" sz="1300" dirty="0"/>
          </a:p>
        </p:txBody>
      </p:sp>
      <p:sp>
        <p:nvSpPr>
          <p:cNvPr id="7" name="Text 4"/>
          <p:cNvSpPr/>
          <p:nvPr/>
        </p:nvSpPr>
        <p:spPr>
          <a:xfrm>
            <a:off x="548640" y="5303520"/>
            <a:ext cx="11094415" cy="274320"/>
          </a:xfrm>
          <a:prstGeom prst="rect">
            <a:avLst/>
          </a:prstGeom>
          <a:noFill/>
          <a:ln/>
        </p:spPr>
        <p:txBody>
          <a:bodyPr wrap="square" lIns="0" tIns="0" rIns="0" bIns="0" rtlCol="0" anchor="t"/>
          <a:lstStyle/>
          <a:p>
            <a:pPr indent="0" marL="0">
              <a:buNone/>
            </a:pPr>
            <a:r>
              <a:rPr lang="en-US" sz="1300" dirty="0">
                <a:solidFill>
                  <a:srgbClr val="605A52"/>
                </a:solidFill>
                <a:latin typeface="Archivo" pitchFamily="34" charset="0"/>
                <a:ea typeface="Archivo" pitchFamily="34" charset="-122"/>
                <a:cs typeface="Archivo" pitchFamily="34" charset="-120"/>
              </a:rPr>
              <a:t>{{TODO:meeting.date}}  ·  Daniel {{TODO:people.daniel.lastName}}, Principal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Agenda</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60020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01</a:t>
            </a:r>
            <a:endParaRPr lang="en-US" sz="1600" dirty="0"/>
          </a:p>
        </p:txBody>
      </p:sp>
      <p:sp>
        <p:nvSpPr>
          <p:cNvPr id="5" name="Text 3"/>
          <p:cNvSpPr/>
          <p:nvPr/>
        </p:nvSpPr>
        <p:spPr>
          <a:xfrm>
            <a:off x="1188720" y="160020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Where your coverage stands today</a:t>
            </a:r>
            <a:endParaRPr lang="en-US" sz="1900" dirty="0"/>
          </a:p>
        </p:txBody>
      </p:sp>
      <p:sp>
        <p:nvSpPr>
          <p:cNvPr id="6" name="Text 4"/>
          <p:cNvSpPr/>
          <p:nvPr/>
        </p:nvSpPr>
        <p:spPr>
          <a:xfrm>
            <a:off x="548640" y="2167128"/>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02</a:t>
            </a:r>
            <a:endParaRPr lang="en-US" sz="1600" dirty="0"/>
          </a:p>
        </p:txBody>
      </p:sp>
      <p:sp>
        <p:nvSpPr>
          <p:cNvPr id="7" name="Text 5"/>
          <p:cNvSpPr/>
          <p:nvPr/>
        </p:nvSpPr>
        <p:spPr>
          <a:xfrm>
            <a:off x="1188720" y="2167128"/>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What Arizona, Nevada, Utah and Idaho require</a:t>
            </a:r>
            <a:endParaRPr lang="en-US" sz="1900" dirty="0"/>
          </a:p>
        </p:txBody>
      </p:sp>
      <p:sp>
        <p:nvSpPr>
          <p:cNvPr id="8" name="Text 6"/>
          <p:cNvSpPr/>
          <p:nvPr/>
        </p:nvSpPr>
        <p:spPr>
          <a:xfrm>
            <a:off x="548640" y="2734056"/>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03</a:t>
            </a:r>
            <a:endParaRPr lang="en-US" sz="1600" dirty="0"/>
          </a:p>
        </p:txBody>
      </p:sp>
      <p:sp>
        <p:nvSpPr>
          <p:cNvPr id="9" name="Text 7"/>
          <p:cNvSpPr/>
          <p:nvPr/>
        </p:nvSpPr>
        <p:spPr>
          <a:xfrm>
            <a:off x="1188720" y="2734056"/>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Three options, side by side</a:t>
            </a:r>
            <a:endParaRPr lang="en-US" sz="1900" dirty="0"/>
          </a:p>
        </p:txBody>
      </p:sp>
      <p:sp>
        <p:nvSpPr>
          <p:cNvPr id="10" name="Text 8"/>
          <p:cNvSpPr/>
          <p:nvPr/>
        </p:nvSpPr>
        <p:spPr>
          <a:xfrm>
            <a:off x="548640" y="3300984"/>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04</a:t>
            </a:r>
            <a:endParaRPr lang="en-US" sz="1600" dirty="0"/>
          </a:p>
        </p:txBody>
      </p:sp>
      <p:sp>
        <p:nvSpPr>
          <p:cNvPr id="11" name="Text 9"/>
          <p:cNvSpPr/>
          <p:nvPr/>
        </p:nvSpPr>
        <p:spPr>
          <a:xfrm>
            <a:off x="1188720" y="3300984"/>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Our recommendation and the math</a:t>
            </a:r>
            <a:endParaRPr lang="en-US" sz="1900" dirty="0"/>
          </a:p>
        </p:txBody>
      </p:sp>
      <p:sp>
        <p:nvSpPr>
          <p:cNvPr id="12" name="Text 10"/>
          <p:cNvSpPr/>
          <p:nvPr/>
        </p:nvSpPr>
        <p:spPr>
          <a:xfrm>
            <a:off x="548640" y="3867912"/>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05</a:t>
            </a:r>
            <a:endParaRPr lang="en-US" sz="1600" dirty="0"/>
          </a:p>
        </p:txBody>
      </p:sp>
      <p:sp>
        <p:nvSpPr>
          <p:cNvPr id="13" name="Text 11"/>
          <p:cNvSpPr/>
          <p:nvPr/>
        </p:nvSpPr>
        <p:spPr>
          <a:xfrm>
            <a:off x="1188720" y="3867912"/>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Next steps</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abuhaithem/Documents/dellisandassociates/desert-peak-brand/web/logos/logo-reversed@2x.png">    </p:cNvPr>
          <p:cNvPicPr>
            <a:picLocks noChangeAspect="1"/>
          </p:cNvPicPr>
          <p:nvPr/>
        </p:nvPicPr>
        <p:blipFill>
          <a:blip r:embed="rId1"/>
          <a:stretch>
            <a:fillRect/>
          </a:stretch>
        </p:blipFill>
        <p:spPr>
          <a:xfrm>
            <a:off x="548640" y="640080"/>
            <a:ext cx="2587752" cy="457200"/>
          </a:xfrm>
          <a:prstGeom prst="rect">
            <a:avLst/>
          </a:prstGeom>
        </p:spPr>
      </p:pic>
      <p:sp>
        <p:nvSpPr>
          <p:cNvPr id="3" name="Text 0"/>
          <p:cNvSpPr/>
          <p:nvPr/>
        </p:nvSpPr>
        <p:spPr>
          <a:xfrm>
            <a:off x="548640" y="2743200"/>
            <a:ext cx="11094415" cy="1097280"/>
          </a:xfrm>
          <a:prstGeom prst="rect">
            <a:avLst/>
          </a:prstGeom>
          <a:noFill/>
          <a:ln/>
        </p:spPr>
        <p:txBody>
          <a:bodyPr wrap="square" lIns="0" tIns="0" rIns="0" bIns="0" rtlCol="0" anchor="ctr"/>
          <a:lstStyle/>
          <a:p>
            <a:pPr indent="0" marL="0">
              <a:buNone/>
            </a:pPr>
            <a:r>
              <a:rPr lang="en-US" sz="4000" b="1" dirty="0">
                <a:solidFill>
                  <a:srgbClr val="FAF4EC"/>
                </a:solidFill>
                <a:latin typeface="Archivo" pitchFamily="34" charset="0"/>
                <a:ea typeface="Archivo" pitchFamily="34" charset="-122"/>
                <a:cs typeface="Archivo" pitchFamily="34" charset="-120"/>
              </a:rPr>
              <a:t>The comparison</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The comparison</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2011680"/>
                <a:gridCol w="1993392"/>
                <a:gridCol w="1993392"/>
                <a:gridCol w="1984248"/>
              </a:tblGrid>
              <a:tr h="384048">
                <a:tc>
                  <a:txBody>
                    <a:bodyPr/>
                    <a:lstStyle/>
                    <a:p>
                      <a:pPr algn="l" indent="0" marL="0">
                        <a:buNone/>
                      </a:pPr>
                      <a:r>
                        <a:rPr lang="en-US" sz="1000" b="1" dirty="0">
                          <a:solidFill>
                            <a:srgbClr val="605A52"/>
                          </a:solidFill>
                          <a:latin typeface="Archivo" pitchFamily="34" charset="0"/>
                          <a:ea typeface="Archivo" pitchFamily="34" charset="-122"/>
                          <a:cs typeface="Archivo" pitchFamily="34" charset="-120"/>
                        </a:rPr>
                        <a:t>Coverage</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Current policy</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Carrier A</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Carrier B</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Carrier C</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Bodily injury, per person</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Bodily injury, per accident</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$300,000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Property damage</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Uninsured motorist, per person</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Collision deductible</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Comprehensive deductible</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Umbrella</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b="1" dirty="0">
                          <a:solidFill>
                            <a:srgbClr val="221F1A"/>
                          </a:solidFill>
                          <a:latin typeface="Archivo" pitchFamily="34" charset="0"/>
                          <a:ea typeface="Archivo" pitchFamily="34" charset="-122"/>
                          <a:cs typeface="Archivo" pitchFamily="34" charset="-120"/>
                        </a:rPr>
                        <a:t>Annual premium</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$1,842</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CE6E0"/>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$2,106</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$2,214</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$2,048</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r>
            </a:tbl>
          </a:graphicData>
        </a:graphic>
      </p:graphicFrame>
      <p:sp>
        <p:nvSpPr>
          <p:cNvPr id="5" name="Text 2"/>
          <p:cNvSpPr/>
          <p:nvPr/>
        </p:nvSpPr>
        <p:spPr>
          <a:xfrm>
            <a:off x="548640" y="5257800"/>
            <a:ext cx="11094415" cy="274320"/>
          </a:xfrm>
          <a:prstGeom prst="rect">
            <a:avLst/>
          </a:prstGeom>
          <a:noFill/>
          <a:ln/>
        </p:spPr>
        <p:txBody>
          <a:bodyPr wrap="square" lIns="0" tIns="0" rIns="0" bIns="0" rtlCol="0" anchor="t"/>
          <a:lstStyle/>
          <a:p>
            <a:pPr indent="0" marL="0">
              <a:buNone/>
            </a:pPr>
            <a:r>
              <a:rPr lang="en-US" sz="1100" dirty="0">
                <a:solidFill>
                  <a:srgbClr val="605A52"/>
                </a:solidFill>
                <a:latin typeface="Archivo" pitchFamily="34" charset="0"/>
                <a:ea typeface="Archivo" pitchFamily="34" charset="-122"/>
                <a:cs typeface="Archivo" pitchFamily="34" charset="-120"/>
              </a:rPr>
              <a:t>Illustrative figures for layout review. Not a quote. Carriers are anonymised until appointments are confirmed.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What each state requires</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Arizona</a:t>
            </a:r>
            <a:endParaRPr lang="en-US" sz="1500" dirty="0"/>
          </a:p>
        </p:txBody>
      </p:sp>
      <p:sp>
        <p:nvSpPr>
          <p:cNvPr id="5" name="Text 3"/>
          <p:cNvSpPr/>
          <p:nvPr/>
        </p:nvSpPr>
        <p:spPr>
          <a:xfrm>
            <a:off x="548640" y="190195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$25,000 / $50,000 / $15,000</a:t>
            </a:r>
            <a:endParaRPr lang="en-US" sz="2400" dirty="0"/>
          </a:p>
        </p:txBody>
      </p:sp>
      <p:sp>
        <p:nvSpPr>
          <p:cNvPr id="6" name="Text 4"/>
          <p:cNvSpPr/>
          <p:nvPr/>
        </p:nvSpPr>
        <p:spPr>
          <a:xfrm>
            <a:off x="548640" y="242316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Arizona requires at least $25,000 per person and $50,000 per accident for bodily injury, and $15,000 for property damage, on policies issued or renewed since July 1, 2020.</a:t>
            </a:r>
            <a:endParaRPr lang="en-US" sz="1300" dirty="0"/>
          </a:p>
        </p:txBody>
      </p:sp>
      <p:sp>
        <p:nvSpPr>
          <p:cNvPr id="7" name="Text 5"/>
          <p:cNvSpPr/>
          <p:nvPr/>
        </p:nvSpPr>
        <p:spPr>
          <a:xfrm>
            <a:off x="548640" y="312724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A.R.S. § 28-4009 (azleg.gov), verified 2026-09-13</a:t>
            </a:r>
            <a:endParaRPr lang="en-US" sz="900" dirty="0"/>
          </a:p>
        </p:txBody>
      </p:sp>
      <p:sp>
        <p:nvSpPr>
          <p:cNvPr id="8" name="Text 6"/>
          <p:cNvSpPr/>
          <p:nvPr/>
        </p:nvSpPr>
        <p:spPr>
          <a:xfrm>
            <a:off x="6233008" y="155448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Nevada</a:t>
            </a:r>
            <a:endParaRPr lang="en-US" sz="1500" dirty="0"/>
          </a:p>
        </p:txBody>
      </p:sp>
      <p:sp>
        <p:nvSpPr>
          <p:cNvPr id="9" name="Text 7"/>
          <p:cNvSpPr/>
          <p:nvPr/>
        </p:nvSpPr>
        <p:spPr>
          <a:xfrm>
            <a:off x="6233008" y="190195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$25,000 / $50,000 / $20,000</a:t>
            </a:r>
            <a:endParaRPr lang="en-US" sz="2400" dirty="0"/>
          </a:p>
        </p:txBody>
      </p:sp>
      <p:sp>
        <p:nvSpPr>
          <p:cNvPr id="10" name="Text 8"/>
          <p:cNvSpPr/>
          <p:nvPr/>
        </p:nvSpPr>
        <p:spPr>
          <a:xfrm>
            <a:off x="6233008" y="242316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Nevada requires at least $25,000 per person and $50,000 per accident for bodily injury, and $20,000 for property damage.</a:t>
            </a:r>
            <a:endParaRPr lang="en-US" sz="1300" dirty="0"/>
          </a:p>
        </p:txBody>
      </p:sp>
      <p:sp>
        <p:nvSpPr>
          <p:cNvPr id="11" name="Text 9"/>
          <p:cNvSpPr/>
          <p:nvPr/>
        </p:nvSpPr>
        <p:spPr>
          <a:xfrm>
            <a:off x="6233008" y="312724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NRS 485.185 (leg.state.nv.us), verified 2026-09-13</a:t>
            </a:r>
            <a:endParaRPr lang="en-US" sz="900" dirty="0"/>
          </a:p>
        </p:txBody>
      </p:sp>
      <p:sp>
        <p:nvSpPr>
          <p:cNvPr id="12" name="Text 10"/>
          <p:cNvSpPr/>
          <p:nvPr/>
        </p:nvSpPr>
        <p:spPr>
          <a:xfrm>
            <a:off x="548640" y="352044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Utah</a:t>
            </a:r>
            <a:endParaRPr lang="en-US" sz="1500" dirty="0"/>
          </a:p>
        </p:txBody>
      </p:sp>
      <p:sp>
        <p:nvSpPr>
          <p:cNvPr id="13" name="Text 11"/>
          <p:cNvSpPr/>
          <p:nvPr/>
        </p:nvSpPr>
        <p:spPr>
          <a:xfrm>
            <a:off x="548640" y="386791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$30,000 / $65,000 / $25,000</a:t>
            </a:r>
            <a:endParaRPr lang="en-US" sz="2400" dirty="0"/>
          </a:p>
        </p:txBody>
      </p:sp>
      <p:sp>
        <p:nvSpPr>
          <p:cNvPr id="14" name="Text 12"/>
          <p:cNvSpPr/>
          <p:nvPr/>
        </p:nvSpPr>
        <p:spPr>
          <a:xfrm>
            <a:off x="548640" y="438912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Utah requires at least $30,000 per person and $65,000 per accident for bodily injury, and $25,000 for property damage, on policies issued or renewed on or after January 1, 2025.</a:t>
            </a:r>
            <a:endParaRPr lang="en-US" sz="1300" dirty="0"/>
          </a:p>
        </p:txBody>
      </p:sp>
      <p:sp>
        <p:nvSpPr>
          <p:cNvPr id="15" name="Text 13"/>
          <p:cNvSpPr/>
          <p:nvPr/>
        </p:nvSpPr>
        <p:spPr>
          <a:xfrm>
            <a:off x="548640" y="509320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Utah Code § 31A-22-304 (le.utah.gov), verified 2026-09-13</a:t>
            </a:r>
            <a:endParaRPr lang="en-US" sz="900" dirty="0"/>
          </a:p>
        </p:txBody>
      </p:sp>
      <p:sp>
        <p:nvSpPr>
          <p:cNvPr id="16" name="Text 14"/>
          <p:cNvSpPr/>
          <p:nvPr/>
        </p:nvSpPr>
        <p:spPr>
          <a:xfrm>
            <a:off x="6233008" y="352044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Idaho</a:t>
            </a:r>
            <a:endParaRPr lang="en-US" sz="1500" dirty="0"/>
          </a:p>
        </p:txBody>
      </p:sp>
      <p:sp>
        <p:nvSpPr>
          <p:cNvPr id="17" name="Text 15"/>
          <p:cNvSpPr/>
          <p:nvPr/>
        </p:nvSpPr>
        <p:spPr>
          <a:xfrm>
            <a:off x="6233008" y="386791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$25,000 / $50,000 / $15,000</a:t>
            </a:r>
            <a:endParaRPr lang="en-US" sz="2400" dirty="0"/>
          </a:p>
        </p:txBody>
      </p:sp>
      <p:sp>
        <p:nvSpPr>
          <p:cNvPr id="18" name="Text 16"/>
          <p:cNvSpPr/>
          <p:nvPr/>
        </p:nvSpPr>
        <p:spPr>
          <a:xfrm>
            <a:off x="6233008" y="438912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Idaho requires at least $25,000 per person and $50,000 per accident for bodily injury, and $15,000 for property damage.</a:t>
            </a:r>
            <a:endParaRPr lang="en-US" sz="1300" dirty="0"/>
          </a:p>
        </p:txBody>
      </p:sp>
      <p:sp>
        <p:nvSpPr>
          <p:cNvPr id="19" name="Text 17"/>
          <p:cNvSpPr/>
          <p:nvPr/>
        </p:nvSpPr>
        <p:spPr>
          <a:xfrm>
            <a:off x="6233008" y="509320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Idaho Code § 49-117 (legislature.idaho.gov), verified 2026-09-13</a:t>
            </a:r>
            <a:endParaRPr lang="en-US" sz="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The finding</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6656649" cy="914400"/>
          </a:xfrm>
          <a:prstGeom prst="rect">
            <a:avLst/>
          </a:prstGeom>
          <a:noFill/>
          <a:ln/>
        </p:spPr>
        <p:txBody>
          <a:bodyPr wrap="square" lIns="0" tIns="0" rIns="0" bIns="0" rtlCol="0" anchor="t"/>
          <a:lstStyle/>
          <a:p>
            <a:pPr indent="0" marL="0">
              <a:buNone/>
            </a:pPr>
            <a:r>
              <a:rPr lang="en-US" sz="2000" dirty="0">
                <a:solidFill>
                  <a:srgbClr val="221F1A"/>
                </a:solidFill>
                <a:latin typeface="Source Serif 4" pitchFamily="34" charset="0"/>
                <a:ea typeface="Source Serif 4" pitchFamily="34" charset="-122"/>
                <a:cs typeface="Source Serif 4" pitchFamily="34" charset="-120"/>
              </a:rPr>
              <a:t>Raise the underlying auto liability limit before adding an umbrella. The umbrella quote is conditional on it.</a:t>
            </a:r>
            <a:endParaRPr lang="en-US" sz="2000" dirty="0"/>
          </a:p>
        </p:txBody>
      </p:sp>
      <p:sp>
        <p:nvSpPr>
          <p:cNvPr id="5" name="Text 3"/>
          <p:cNvSpPr/>
          <p:nvPr/>
        </p:nvSpPr>
        <p:spPr>
          <a:xfrm>
            <a:off x="548640" y="2743200"/>
            <a:ext cx="5010729" cy="41148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Current bodily-injury limit, per person</a:t>
            </a:r>
            <a:endParaRPr lang="en-US" sz="1500" dirty="0"/>
          </a:p>
        </p:txBody>
      </p:sp>
      <p:sp>
        <p:nvSpPr>
          <p:cNvPr id="6" name="Text 4"/>
          <p:cNvSpPr/>
          <p:nvPr/>
        </p:nvSpPr>
        <p:spPr>
          <a:xfrm>
            <a:off x="5559369" y="2743200"/>
            <a:ext cx="1645920" cy="411480"/>
          </a:xfrm>
          <a:prstGeom prst="rect">
            <a:avLst/>
          </a:prstGeom>
          <a:noFill/>
          <a:ln/>
        </p:spPr>
        <p:txBody>
          <a:bodyPr wrap="square" lIns="0" tIns="0" rIns="0" bIns="0" rtlCol="0" anchor="ctr"/>
          <a:lstStyle/>
          <a:p>
            <a:pPr algn="r" indent="0" marL="0">
              <a:buNone/>
            </a:pPr>
            <a:r>
              <a:rPr lang="en-US" sz="1700" b="1" dirty="0">
                <a:solidFill>
                  <a:srgbClr val="221F1A"/>
                </a:solidFill>
                <a:latin typeface="Archivo" pitchFamily="34" charset="0"/>
                <a:ea typeface="Archivo" pitchFamily="34" charset="-122"/>
                <a:cs typeface="Archivo" pitchFamily="34" charset="-120"/>
              </a:rPr>
              <a:t>$100,000</a:t>
            </a:r>
            <a:endParaRPr lang="en-US" sz="1700" dirty="0"/>
          </a:p>
        </p:txBody>
      </p:sp>
      <p:sp>
        <p:nvSpPr>
          <p:cNvPr id="7" name="Text 5"/>
          <p:cNvSpPr/>
          <p:nvPr/>
        </p:nvSpPr>
        <p:spPr>
          <a:xfrm>
            <a:off x="548640" y="3246120"/>
            <a:ext cx="5010729" cy="41148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Underlying limit the umbrella carrier requires</a:t>
            </a:r>
            <a:endParaRPr lang="en-US" sz="1500" dirty="0"/>
          </a:p>
        </p:txBody>
      </p:sp>
      <p:sp>
        <p:nvSpPr>
          <p:cNvPr id="8" name="Text 6"/>
          <p:cNvSpPr/>
          <p:nvPr/>
        </p:nvSpPr>
        <p:spPr>
          <a:xfrm>
            <a:off x="5559369" y="3246120"/>
            <a:ext cx="1645920" cy="411480"/>
          </a:xfrm>
          <a:prstGeom prst="rect">
            <a:avLst/>
          </a:prstGeom>
          <a:noFill/>
          <a:ln/>
        </p:spPr>
        <p:txBody>
          <a:bodyPr wrap="square" lIns="0" tIns="0" rIns="0" bIns="0" rtlCol="0" anchor="ctr"/>
          <a:lstStyle/>
          <a:p>
            <a:pPr algn="r" indent="0" marL="0">
              <a:buNone/>
            </a:pPr>
            <a:r>
              <a:rPr lang="en-US" sz="1700" b="1" dirty="0">
                <a:solidFill>
                  <a:srgbClr val="221F1A"/>
                </a:solidFill>
                <a:latin typeface="Archivo" pitchFamily="34" charset="0"/>
                <a:ea typeface="Archivo" pitchFamily="34" charset="-122"/>
                <a:cs typeface="Archivo" pitchFamily="34" charset="-120"/>
              </a:rPr>
              <a:t>$250,000</a:t>
            </a:r>
            <a:endParaRPr lang="en-US" sz="1700" dirty="0"/>
          </a:p>
        </p:txBody>
      </p:sp>
      <p:sp>
        <p:nvSpPr>
          <p:cNvPr id="9" name="Text 7"/>
          <p:cNvSpPr/>
          <p:nvPr/>
        </p:nvSpPr>
        <p:spPr>
          <a:xfrm>
            <a:off x="548640" y="3749040"/>
            <a:ext cx="5010729" cy="41148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Gap to close before the umbrella can be written</a:t>
            </a:r>
            <a:endParaRPr lang="en-US" sz="1500" dirty="0"/>
          </a:p>
        </p:txBody>
      </p:sp>
      <p:sp>
        <p:nvSpPr>
          <p:cNvPr id="10" name="Text 8"/>
          <p:cNvSpPr/>
          <p:nvPr/>
        </p:nvSpPr>
        <p:spPr>
          <a:xfrm>
            <a:off x="5559369" y="3749040"/>
            <a:ext cx="1645920" cy="411480"/>
          </a:xfrm>
          <a:prstGeom prst="rect">
            <a:avLst/>
          </a:prstGeom>
          <a:noFill/>
          <a:ln/>
        </p:spPr>
        <p:txBody>
          <a:bodyPr wrap="square" lIns="0" tIns="0" rIns="0" bIns="0" rtlCol="0" anchor="ctr"/>
          <a:lstStyle/>
          <a:p>
            <a:pPr algn="r" indent="0" marL="0">
              <a:buNone/>
            </a:pPr>
            <a:r>
              <a:rPr lang="en-US" sz="1700" b="1" dirty="0">
                <a:solidFill>
                  <a:srgbClr val="221F1A"/>
                </a:solidFill>
                <a:latin typeface="Archivo" pitchFamily="34" charset="0"/>
                <a:ea typeface="Archivo" pitchFamily="34" charset="-122"/>
                <a:cs typeface="Archivo" pitchFamily="34" charset="-120"/>
              </a:rPr>
              <a:t>$150,000</a:t>
            </a:r>
            <a:endParaRPr lang="en-US" sz="1700" dirty="0"/>
          </a:p>
        </p:txBody>
      </p:sp>
      <p:sp>
        <p:nvSpPr>
          <p:cNvPr id="11" name="Shape 9"/>
          <p:cNvSpPr/>
          <p:nvPr/>
        </p:nvSpPr>
        <p:spPr>
          <a:xfrm>
            <a:off x="548640" y="3703320"/>
            <a:ext cx="6656649" cy="18288"/>
          </a:xfrm>
          <a:prstGeom prst="rect">
            <a:avLst/>
          </a:prstGeom>
          <a:solidFill>
            <a:srgbClr val="221F1A"/>
          </a:solidFill>
          <a:ln w="12700">
            <a:solidFill>
              <a:srgbClr val="221F1A"/>
            </a:solidFill>
            <a:prstDash val="solid"/>
          </a:ln>
        </p:spPr>
      </p:sp>
      <p:sp>
        <p:nvSpPr>
          <p:cNvPr id="12" name="Shape 10"/>
          <p:cNvSpPr/>
          <p:nvPr/>
        </p:nvSpPr>
        <p:spPr>
          <a:xfrm>
            <a:off x="7870954" y="1554480"/>
            <a:ext cx="3772101" cy="2926080"/>
          </a:xfrm>
          <a:prstGeom prst="rect">
            <a:avLst/>
          </a:prstGeom>
          <a:solidFill>
            <a:srgbClr val="FCE6E0"/>
          </a:solidFill>
          <a:ln w="12700">
            <a:solidFill>
              <a:srgbClr val="FCE6E0"/>
            </a:solidFill>
            <a:prstDash val="solid"/>
          </a:ln>
        </p:spPr>
      </p:sp>
      <p:sp>
        <p:nvSpPr>
          <p:cNvPr id="13" name="Text 11"/>
          <p:cNvSpPr/>
          <p:nvPr/>
        </p:nvSpPr>
        <p:spPr>
          <a:xfrm>
            <a:off x="8145274" y="1783080"/>
            <a:ext cx="3223461" cy="365760"/>
          </a:xfrm>
          <a:prstGeom prst="rect">
            <a:avLst/>
          </a:prstGeom>
          <a:noFill/>
          <a:ln/>
        </p:spPr>
        <p:txBody>
          <a:bodyPr wrap="square" lIns="0" tIns="0" rIns="0" bIns="0" rtlCol="0" anchor="ctr"/>
          <a:lstStyle/>
          <a:p>
            <a:pPr indent="0" marL="0">
              <a:buNone/>
            </a:pPr>
            <a:r>
              <a:rPr lang="en-US" sz="1500" b="1" dirty="0">
                <a:solidFill>
                  <a:srgbClr val="551A0C"/>
                </a:solidFill>
                <a:latin typeface="Archivo" pitchFamily="34" charset="0"/>
                <a:ea typeface="Archivo" pitchFamily="34" charset="-122"/>
                <a:cs typeface="Archivo" pitchFamily="34" charset="-120"/>
              </a:rPr>
              <a:t>Or: keep what you have</a:t>
            </a:r>
            <a:endParaRPr lang="en-US" sz="1500" dirty="0"/>
          </a:p>
        </p:txBody>
      </p:sp>
      <p:sp>
        <p:nvSpPr>
          <p:cNvPr id="14" name="Text 12"/>
          <p:cNvSpPr/>
          <p:nvPr/>
        </p:nvSpPr>
        <p:spPr>
          <a:xfrm>
            <a:off x="8145274" y="2194560"/>
            <a:ext cx="3223461" cy="2103120"/>
          </a:xfrm>
          <a:prstGeom prst="rect">
            <a:avLst/>
          </a:prstGeom>
          <a:noFill/>
          <a:ln/>
        </p:spPr>
        <p:txBody>
          <a:bodyPr wrap="square" lIns="0" tIns="0" rIns="0" bIns="0" rtlCol="0" anchor="t"/>
          <a:lstStyle/>
          <a:p>
            <a:pPr indent="0" marL="0">
              <a:buNone/>
            </a:pPr>
            <a:r>
              <a:rPr lang="en-US" sz="1400" dirty="0">
                <a:solidFill>
                  <a:srgbClr val="551A0C"/>
                </a:solidFill>
                <a:latin typeface="Source Serif 4" pitchFamily="34" charset="0"/>
                <a:ea typeface="Source Serif 4" pitchFamily="34" charset="-122"/>
                <a:cs typeface="Source Serif 4" pitchFamily="34" charset="-120"/>
              </a:rPr>
              <a:t>If the current limits already meet the umbrella carrier's requirement, or the umbrella is protecting assets you do not have, the right answer is to change nothing. We say so.</a:t>
            </a:r>
            <a:endParaRPr lang="en-US" sz="1400" dirty="0"/>
          </a:p>
        </p:txBody>
      </p:sp>
      <p:sp>
        <p:nvSpPr>
          <p:cNvPr id="15" name="Text 13"/>
          <p:cNvSpPr/>
          <p:nvPr/>
        </p:nvSpPr>
        <p:spPr>
          <a:xfrm>
            <a:off x="548640" y="5257800"/>
            <a:ext cx="11094415" cy="274320"/>
          </a:xfrm>
          <a:prstGeom prst="rect">
            <a:avLst/>
          </a:prstGeom>
          <a:noFill/>
          <a:ln/>
        </p:spPr>
        <p:txBody>
          <a:bodyPr wrap="square" lIns="0" tIns="0" rIns="0" bIns="0" rtlCol="0" anchor="t"/>
          <a:lstStyle/>
          <a:p>
            <a:pPr indent="0" marL="0">
              <a:buNone/>
            </a:pPr>
            <a:r>
              <a:rPr lang="en-US" sz="1100" dirty="0">
                <a:solidFill>
                  <a:srgbClr val="605A52"/>
                </a:solidFill>
                <a:latin typeface="Archivo" pitchFamily="34" charset="0"/>
                <a:ea typeface="Archivo" pitchFamily="34" charset="-122"/>
                <a:cs typeface="Archivo" pitchFamily="34" charset="-120"/>
              </a:rPr>
              <a:t>Illustrative figures for layout review. Not a quote.</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Coverage summary</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5318608" cy="365760"/>
          </a:xfrm>
          <a:prstGeom prst="rect">
            <a:avLst/>
          </a:prstGeom>
          <a:noFill/>
          <a:ln/>
        </p:spPr>
        <p:txBody>
          <a:bodyPr wrap="square" lIns="0" tIns="0" rIns="0" bIns="0" rtlCol="0" anchor="ctr"/>
          <a:lstStyle/>
          <a:p>
            <a:pPr indent="0" marL="0">
              <a:buNone/>
            </a:pPr>
            <a:r>
              <a:rPr lang="en-US" sz="1500" b="1" dirty="0">
                <a:solidFill>
                  <a:srgbClr val="005243"/>
                </a:solidFill>
                <a:latin typeface="Archivo" pitchFamily="34" charset="0"/>
                <a:ea typeface="Archivo" pitchFamily="34" charset="-122"/>
                <a:cs typeface="Archivo" pitchFamily="34" charset="-120"/>
              </a:rPr>
              <a:t>What is covered</a:t>
            </a:r>
            <a:endParaRPr lang="en-US" sz="1500" dirty="0"/>
          </a:p>
        </p:txBody>
      </p:sp>
      <p:sp>
        <p:nvSpPr>
          <p:cNvPr id="5" name="Text 3"/>
          <p:cNvSpPr/>
          <p:nvPr/>
        </p:nvSpPr>
        <p:spPr>
          <a:xfrm>
            <a:off x="6324448" y="1554480"/>
            <a:ext cx="5318608" cy="365760"/>
          </a:xfrm>
          <a:prstGeom prst="rect">
            <a:avLst/>
          </a:prstGeom>
          <a:noFill/>
          <a:ln/>
        </p:spPr>
        <p:txBody>
          <a:bodyPr wrap="square" lIns="0" tIns="0" rIns="0" bIns="0" rtlCol="0" anchor="ctr"/>
          <a:lstStyle/>
          <a:p>
            <a:pPr indent="0" marL="0">
              <a:buNone/>
            </a:pPr>
            <a:r>
              <a:rPr lang="en-US" sz="1500" b="1" dirty="0">
                <a:solidFill>
                  <a:srgbClr val="610010"/>
                </a:solidFill>
                <a:latin typeface="Archivo" pitchFamily="34" charset="0"/>
                <a:ea typeface="Archivo" pitchFamily="34" charset="-122"/>
                <a:cs typeface="Archivo" pitchFamily="34" charset="-120"/>
              </a:rPr>
              <a:t>What is not</a:t>
            </a:r>
            <a:endParaRPr lang="en-US" sz="1500" dirty="0"/>
          </a:p>
        </p:txBody>
      </p:sp>
      <p:sp>
        <p:nvSpPr>
          <p:cNvPr id="6" name="Text 4"/>
          <p:cNvSpPr/>
          <p:nvPr/>
        </p:nvSpPr>
        <p:spPr>
          <a:xfrm>
            <a:off x="548640" y="201168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Liability for injury and property damage you cause</a:t>
            </a:r>
            <a:endParaRPr lang="en-US" sz="1500" dirty="0"/>
          </a:p>
        </p:txBody>
      </p:sp>
      <p:sp>
        <p:nvSpPr>
          <p:cNvPr id="7" name="Text 5"/>
          <p:cNvSpPr/>
          <p:nvPr/>
        </p:nvSpPr>
        <p:spPr>
          <a:xfrm>
            <a:off x="548640" y="256032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Collision, subject to the deductible</a:t>
            </a:r>
            <a:endParaRPr lang="en-US" sz="1500" dirty="0"/>
          </a:p>
        </p:txBody>
      </p:sp>
      <p:sp>
        <p:nvSpPr>
          <p:cNvPr id="8" name="Text 6"/>
          <p:cNvSpPr/>
          <p:nvPr/>
        </p:nvSpPr>
        <p:spPr>
          <a:xfrm>
            <a:off x="548640" y="310896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Comprehensive: theft, hail, fire, animal strike</a:t>
            </a:r>
            <a:endParaRPr lang="en-US" sz="1500" dirty="0"/>
          </a:p>
        </p:txBody>
      </p:sp>
      <p:sp>
        <p:nvSpPr>
          <p:cNvPr id="9" name="Text 7"/>
          <p:cNvSpPr/>
          <p:nvPr/>
        </p:nvSpPr>
        <p:spPr>
          <a:xfrm>
            <a:off x="548640" y="365760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Uninsured and underinsured motorist</a:t>
            </a:r>
            <a:endParaRPr lang="en-US" sz="1500" dirty="0"/>
          </a:p>
        </p:txBody>
      </p:sp>
      <p:sp>
        <p:nvSpPr>
          <p:cNvPr id="10" name="Text 8"/>
          <p:cNvSpPr/>
          <p:nvPr/>
        </p:nvSpPr>
        <p:spPr>
          <a:xfrm>
            <a:off x="548640" y="420624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Rental reimbursement while a covered repair is made</a:t>
            </a:r>
            <a:endParaRPr lang="en-US" sz="1500" dirty="0"/>
          </a:p>
        </p:txBody>
      </p:sp>
      <p:sp>
        <p:nvSpPr>
          <p:cNvPr id="11" name="Text 9"/>
          <p:cNvSpPr/>
          <p:nvPr/>
        </p:nvSpPr>
        <p:spPr>
          <a:xfrm>
            <a:off x="6324448" y="201168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Wear, mechanical failure and maintenance</a:t>
            </a:r>
            <a:endParaRPr lang="en-US" sz="1500" dirty="0"/>
          </a:p>
        </p:txBody>
      </p:sp>
      <p:sp>
        <p:nvSpPr>
          <p:cNvPr id="12" name="Text 10"/>
          <p:cNvSpPr/>
          <p:nvPr/>
        </p:nvSpPr>
        <p:spPr>
          <a:xfrm>
            <a:off x="6324448" y="256032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Flood damage to a home (separate policy)</a:t>
            </a:r>
            <a:endParaRPr lang="en-US" sz="1500" dirty="0"/>
          </a:p>
        </p:txBody>
      </p:sp>
      <p:sp>
        <p:nvSpPr>
          <p:cNvPr id="13" name="Text 11"/>
          <p:cNvSpPr/>
          <p:nvPr/>
        </p:nvSpPr>
        <p:spPr>
          <a:xfrm>
            <a:off x="6324448" y="310896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Business use of a personal vehicle unless endorsed</a:t>
            </a:r>
            <a:endParaRPr lang="en-US" sz="1500" dirty="0"/>
          </a:p>
        </p:txBody>
      </p:sp>
      <p:sp>
        <p:nvSpPr>
          <p:cNvPr id="14" name="Text 12"/>
          <p:cNvSpPr/>
          <p:nvPr/>
        </p:nvSpPr>
        <p:spPr>
          <a:xfrm>
            <a:off x="6324448" y="365760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Intentional damage</a:t>
            </a:r>
            <a:endParaRPr lang="en-US" sz="1500" dirty="0"/>
          </a:p>
        </p:txBody>
      </p:sp>
      <p:sp>
        <p:nvSpPr>
          <p:cNvPr id="15" name="Text 13"/>
          <p:cNvSpPr/>
          <p:nvPr/>
        </p:nvSpPr>
        <p:spPr>
          <a:xfrm>
            <a:off x="6324448" y="420624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Medicare supplement and Advantage plans are reviewed under a separate appointment, not under this policy</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Next steps</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64592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01</a:t>
            </a:r>
            <a:endParaRPr lang="en-US" sz="1600" dirty="0"/>
          </a:p>
        </p:txBody>
      </p:sp>
      <p:sp>
        <p:nvSpPr>
          <p:cNvPr id="5" name="Text 3"/>
          <p:cNvSpPr/>
          <p:nvPr/>
        </p:nvSpPr>
        <p:spPr>
          <a:xfrm>
            <a:off x="1188720" y="164592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Send the current declarations pages</a:t>
            </a:r>
            <a:endParaRPr lang="en-US" sz="1900" dirty="0"/>
          </a:p>
        </p:txBody>
      </p:sp>
      <p:sp>
        <p:nvSpPr>
          <p:cNvPr id="6" name="Text 4"/>
          <p:cNvSpPr/>
          <p:nvPr/>
        </p:nvSpPr>
        <p:spPr>
          <a:xfrm>
            <a:off x="1188720" y="2057400"/>
            <a:ext cx="10454335" cy="274320"/>
          </a:xfrm>
          <a:prstGeom prst="rect">
            <a:avLst/>
          </a:prstGeom>
          <a:noFill/>
          <a:ln/>
        </p:spPr>
        <p:txBody>
          <a:bodyPr wrap="square" lIns="0" tIns="0" rIns="0" bIns="0" rtlCol="0" anchor="t"/>
          <a:lstStyle/>
          <a:p>
            <a:pPr indent="0" marL="0">
              <a:buNone/>
            </a:pPr>
            <a:r>
              <a:rPr lang="en-US" sz="1200" dirty="0">
                <a:solidFill>
                  <a:srgbClr val="605A52"/>
                </a:solidFill>
                <a:latin typeface="Archivo" pitchFamily="34" charset="0"/>
                <a:ea typeface="Archivo" pitchFamily="34" charset="-122"/>
                <a:cs typeface="Archivo" pitchFamily="34" charset="-120"/>
              </a:rPr>
              <a:t>{{TODO:client.name}}  ·  {{TODO:date}}</a:t>
            </a:r>
            <a:endParaRPr lang="en-US" sz="1200" dirty="0"/>
          </a:p>
        </p:txBody>
      </p:sp>
      <p:sp>
        <p:nvSpPr>
          <p:cNvPr id="7" name="Text 5"/>
          <p:cNvSpPr/>
          <p:nvPr/>
        </p:nvSpPr>
        <p:spPr>
          <a:xfrm>
            <a:off x="548640" y="256032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02</a:t>
            </a:r>
            <a:endParaRPr lang="en-US" sz="1600" dirty="0"/>
          </a:p>
        </p:txBody>
      </p:sp>
      <p:sp>
        <p:nvSpPr>
          <p:cNvPr id="8" name="Text 6"/>
          <p:cNvSpPr/>
          <p:nvPr/>
        </p:nvSpPr>
        <p:spPr>
          <a:xfrm>
            <a:off x="1188720" y="256032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Return the comparison with real quotes</a:t>
            </a:r>
            <a:endParaRPr lang="en-US" sz="1900" dirty="0"/>
          </a:p>
        </p:txBody>
      </p:sp>
      <p:sp>
        <p:nvSpPr>
          <p:cNvPr id="9" name="Text 7"/>
          <p:cNvSpPr/>
          <p:nvPr/>
        </p:nvSpPr>
        <p:spPr>
          <a:xfrm>
            <a:off x="1188720" y="2971800"/>
            <a:ext cx="10454335" cy="274320"/>
          </a:xfrm>
          <a:prstGeom prst="rect">
            <a:avLst/>
          </a:prstGeom>
          <a:noFill/>
          <a:ln/>
        </p:spPr>
        <p:txBody>
          <a:bodyPr wrap="square" lIns="0" tIns="0" rIns="0" bIns="0" rtlCol="0" anchor="t"/>
          <a:lstStyle/>
          <a:p>
            <a:pPr indent="0" marL="0">
              <a:buNone/>
            </a:pPr>
            <a:r>
              <a:rPr lang="en-US" sz="1200" dirty="0">
                <a:solidFill>
                  <a:srgbClr val="605A52"/>
                </a:solidFill>
                <a:latin typeface="Archivo" pitchFamily="34" charset="0"/>
                <a:ea typeface="Archivo" pitchFamily="34" charset="-122"/>
                <a:cs typeface="Archivo" pitchFamily="34" charset="-120"/>
              </a:rPr>
              <a:t>Daniel {{TODO:people.daniel.lastName}}  ·  {{TODO:date}}</a:t>
            </a:r>
            <a:endParaRPr lang="en-US" sz="1200" dirty="0"/>
          </a:p>
        </p:txBody>
      </p:sp>
      <p:sp>
        <p:nvSpPr>
          <p:cNvPr id="10" name="Text 8"/>
          <p:cNvSpPr/>
          <p:nvPr/>
        </p:nvSpPr>
        <p:spPr>
          <a:xfrm>
            <a:off x="548640" y="347472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03</a:t>
            </a:r>
            <a:endParaRPr lang="en-US" sz="1600" dirty="0"/>
          </a:p>
        </p:txBody>
      </p:sp>
      <p:sp>
        <p:nvSpPr>
          <p:cNvPr id="11" name="Text 9"/>
          <p:cNvSpPr/>
          <p:nvPr/>
        </p:nvSpPr>
        <p:spPr>
          <a:xfrm>
            <a:off x="1188720" y="347472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Decide, or decide to change nothing</a:t>
            </a:r>
            <a:endParaRPr lang="en-US" sz="1900" dirty="0"/>
          </a:p>
        </p:txBody>
      </p:sp>
      <p:sp>
        <p:nvSpPr>
          <p:cNvPr id="12" name="Text 10"/>
          <p:cNvSpPr/>
          <p:nvPr/>
        </p:nvSpPr>
        <p:spPr>
          <a:xfrm>
            <a:off x="1188720" y="3886200"/>
            <a:ext cx="10454335" cy="274320"/>
          </a:xfrm>
          <a:prstGeom prst="rect">
            <a:avLst/>
          </a:prstGeom>
          <a:noFill/>
          <a:ln/>
        </p:spPr>
        <p:txBody>
          <a:bodyPr wrap="square" lIns="0" tIns="0" rIns="0" bIns="0" rtlCol="0" anchor="t"/>
          <a:lstStyle/>
          <a:p>
            <a:pPr indent="0" marL="0">
              <a:buNone/>
            </a:pPr>
            <a:r>
              <a:rPr lang="en-US" sz="1200" dirty="0">
                <a:solidFill>
                  <a:srgbClr val="605A52"/>
                </a:solidFill>
                <a:latin typeface="Archivo" pitchFamily="34" charset="0"/>
                <a:ea typeface="Archivo" pitchFamily="34" charset="-122"/>
                <a:cs typeface="Archivo" pitchFamily="34" charset="-120"/>
              </a:rPr>
              <a:t>Together  ·  {{TODO:date}}</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Disclosure</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11094415" cy="54864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Desert Peak Insurance is an independent agency, not an insurer. No coverage is bound by this presentation.</a:t>
            </a:r>
            <a:endParaRPr lang="en-US" sz="1500" dirty="0"/>
          </a:p>
        </p:txBody>
      </p:sp>
      <p:sp>
        <p:nvSpPr>
          <p:cNvPr id="5" name="Text 3"/>
          <p:cNvSpPr/>
          <p:nvPr/>
        </p:nvSpPr>
        <p:spPr>
          <a:xfrm>
            <a:off x="548640" y="2194560"/>
            <a:ext cx="11094415" cy="731520"/>
          </a:xfrm>
          <a:prstGeom prst="rect">
            <a:avLst/>
          </a:prstGeom>
          <a:noFill/>
          <a:ln/>
        </p:spPr>
        <p:txBody>
          <a:bodyPr wrap="square" lIns="0" tIns="0" rIns="0" bIns="0" rtlCol="0" anchor="t"/>
          <a:lstStyle/>
          <a:p>
            <a:pPr indent="0" marL="0">
              <a:buNone/>
            </a:pPr>
            <a:r>
              <a:rPr lang="en-US" sz="1300" dirty="0">
                <a:solidFill>
                  <a:srgbClr val="605A52"/>
                </a:solidFill>
                <a:latin typeface="Source Serif 4" pitchFamily="34" charset="0"/>
                <a:ea typeface="Source Serif 4" pitchFamily="34" charset="-122"/>
                <a:cs typeface="Source Serif 4" pitchFamily="34" charset="-120"/>
              </a:rPr>
              <a:t>Licensed in AZ, ID, NV, UT. AZ {{TODO:people.daniel.license.AZ}} · ID {{TODO:people.daniel.license.ID}} · NV {{TODO:people.daniel.license.NV}} · UT {{TODO:people.daniel.license.UT}}.</a:t>
            </a:r>
            <a:endParaRPr lang="en-US" sz="1300" dirty="0"/>
          </a:p>
        </p:txBody>
      </p:sp>
      <p:sp>
        <p:nvSpPr>
          <p:cNvPr id="6" name="Text 4"/>
          <p:cNvSpPr/>
          <p:nvPr/>
        </p:nvSpPr>
        <p:spPr>
          <a:xfrm>
            <a:off x="548640" y="3108960"/>
            <a:ext cx="11094415" cy="109728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We do not offer every plan available in your area. Currently we represent {{TODO:compliance.tpmo.orgCount}} organizations which offer {{TODO:compliance.tpmo.planCount}} products in your area. Please contact Medicare.gov or 1-800-MEDICARE to get information on all of your options.</a:t>
            </a:r>
            <a:endParaRPr lang="en-US" sz="1300" dirty="0"/>
          </a:p>
        </p:txBody>
      </p:sp>
      <p:sp>
        <p:nvSpPr>
          <p:cNvPr id="7" name="Text 5"/>
          <p:cNvSpPr/>
          <p:nvPr/>
        </p:nvSpPr>
        <p:spPr>
          <a:xfrm>
            <a:off x="548640" y="5120640"/>
            <a:ext cx="11094415" cy="365760"/>
          </a:xfrm>
          <a:prstGeom prst="rect">
            <a:avLst/>
          </a:prstGeom>
          <a:noFill/>
          <a:ln/>
        </p:spPr>
        <p:txBody>
          <a:bodyPr wrap="square" lIns="0" tIns="0" rIns="0" bIns="0" rtlCol="0" anchor="t"/>
          <a:lstStyle/>
          <a:p>
            <a:pPr indent="0" marL="0">
              <a:buNone/>
            </a:pPr>
            <a:r>
              <a:rPr lang="en-US" sz="1100" dirty="0">
                <a:solidFill>
                  <a:srgbClr val="605A52"/>
                </a:solidFill>
                <a:latin typeface="Archivo" pitchFamily="34" charset="0"/>
                <a:ea typeface="Archivo" pitchFamily="34" charset="-122"/>
                <a:cs typeface="Archivo" pitchFamily="34" charset="-120"/>
              </a:rPr>
              <a:t>Illustrative figures in this deck are for layout review and are not quotes. Generated 2026-09-13 from people.json and collateral.config.json.</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Contact</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645920"/>
            <a:ext cx="11094415" cy="457200"/>
          </a:xfrm>
          <a:prstGeom prst="rect">
            <a:avLst/>
          </a:prstGeom>
          <a:noFill/>
          <a:ln/>
        </p:spPr>
        <p:txBody>
          <a:bodyPr wrap="square" lIns="0" tIns="0" rIns="0" bIns="0" rtlCol="0" anchor="ctr"/>
          <a:lstStyle/>
          <a:p>
            <a:pPr indent="0" marL="0">
              <a:buNone/>
            </a:pPr>
            <a:r>
              <a:rPr lang="en-US" sz="2200" b="1" dirty="0">
                <a:solidFill>
                  <a:srgbClr val="221F1A"/>
                </a:solidFill>
                <a:latin typeface="Archivo" pitchFamily="34" charset="0"/>
                <a:ea typeface="Archivo" pitchFamily="34" charset="-122"/>
                <a:cs typeface="Archivo" pitchFamily="34" charset="-120"/>
              </a:rPr>
              <a:t>Daniel {{TODO:people.daniel.lastName}}</a:t>
            </a:r>
            <a:endParaRPr lang="en-US" sz="2200" dirty="0"/>
          </a:p>
        </p:txBody>
      </p:sp>
      <p:sp>
        <p:nvSpPr>
          <p:cNvPr id="5" name="Text 3"/>
          <p:cNvSpPr/>
          <p:nvPr/>
        </p:nvSpPr>
        <p:spPr>
          <a:xfrm>
            <a:off x="548640" y="2148840"/>
            <a:ext cx="11094415" cy="365760"/>
          </a:xfrm>
          <a:prstGeom prst="rect">
            <a:avLst/>
          </a:prstGeom>
          <a:noFill/>
          <a:ln/>
        </p:spPr>
        <p:txBody>
          <a:bodyPr wrap="square" lIns="0" tIns="0" rIns="0" bIns="0" rtlCol="0" anchor="t"/>
          <a:lstStyle/>
          <a:p>
            <a:pPr indent="0" marL="0">
              <a:buNone/>
            </a:pPr>
            <a:r>
              <a:rPr lang="en-US" sz="1600" dirty="0">
                <a:solidFill>
                  <a:srgbClr val="605A52"/>
                </a:solidFill>
                <a:latin typeface="Source Serif 4" pitchFamily="34" charset="0"/>
                <a:ea typeface="Source Serif 4" pitchFamily="34" charset="-122"/>
                <a:cs typeface="Source Serif 4" pitchFamily="34" charset="-120"/>
              </a:rPr>
              <a:t>Principal, Desert Peak Insurance</a:t>
            </a:r>
            <a:endParaRPr lang="en-US" sz="1600" dirty="0"/>
          </a:p>
        </p:txBody>
      </p:sp>
      <p:sp>
        <p:nvSpPr>
          <p:cNvPr id="6" name="Text 4"/>
          <p:cNvSpPr/>
          <p:nvPr/>
        </p:nvSpPr>
        <p:spPr>
          <a:xfrm>
            <a:off x="548640" y="2743200"/>
            <a:ext cx="11094415" cy="365760"/>
          </a:xfrm>
          <a:prstGeom prst="rect">
            <a:avLst/>
          </a:prstGeom>
          <a:noFill/>
          <a:ln/>
        </p:spPr>
        <p:txBody>
          <a:bodyPr wrap="square" lIns="0" tIns="0" rIns="0" bIns="0" rtlCol="0" anchor="t"/>
          <a:lstStyle/>
          <a:p>
            <a:pPr indent="0" marL="0">
              <a:buNone/>
            </a:pPr>
            <a:r>
              <a:rPr lang="en-US" sz="1600" dirty="0">
                <a:solidFill>
                  <a:srgbClr val="221F1A"/>
                </a:solidFill>
                <a:latin typeface="Source Serif 4" pitchFamily="34" charset="0"/>
                <a:ea typeface="Source Serif 4" pitchFamily="34" charset="-122"/>
                <a:cs typeface="Source Serif 4" pitchFamily="34" charset="-120"/>
              </a:rPr>
              <a:t>{{TODO:client.phone}}</a:t>
            </a:r>
            <a:endParaRPr lang="en-US" sz="1600" dirty="0"/>
          </a:p>
        </p:txBody>
      </p:sp>
      <p:sp>
        <p:nvSpPr>
          <p:cNvPr id="7" name="Text 5"/>
          <p:cNvSpPr/>
          <p:nvPr/>
        </p:nvSpPr>
        <p:spPr>
          <a:xfrm>
            <a:off x="548640" y="3154680"/>
            <a:ext cx="11094415" cy="365760"/>
          </a:xfrm>
          <a:prstGeom prst="rect">
            <a:avLst/>
          </a:prstGeom>
          <a:noFill/>
          <a:ln/>
        </p:spPr>
        <p:txBody>
          <a:bodyPr wrap="square" lIns="0" tIns="0" rIns="0" bIns="0" rtlCol="0" anchor="t"/>
          <a:lstStyle/>
          <a:p>
            <a:pPr indent="0" marL="0">
              <a:buNone/>
            </a:pPr>
            <a:r>
              <a:rPr lang="en-US" sz="1600" dirty="0">
                <a:solidFill>
                  <a:srgbClr val="221F1A"/>
                </a:solidFill>
                <a:latin typeface="Source Serif 4" pitchFamily="34" charset="0"/>
                <a:ea typeface="Source Serif 4" pitchFamily="34" charset="-122"/>
                <a:cs typeface="Source Serif 4" pitchFamily="34" charset="-120"/>
              </a:rPr>
              <a:t>daniel@desertpeakinsurance.com</a:t>
            </a:r>
            <a:endParaRPr lang="en-US" sz="1600" dirty="0"/>
          </a:p>
        </p:txBody>
      </p:sp>
      <p:sp>
        <p:nvSpPr>
          <p:cNvPr id="8" name="Text 6"/>
          <p:cNvSpPr/>
          <p:nvPr/>
        </p:nvSpPr>
        <p:spPr>
          <a:xfrm>
            <a:off x="548640" y="3566160"/>
            <a:ext cx="11094415" cy="365760"/>
          </a:xfrm>
          <a:prstGeom prst="rect">
            <a:avLst/>
          </a:prstGeom>
          <a:noFill/>
          <a:ln/>
        </p:spPr>
        <p:txBody>
          <a:bodyPr wrap="square" lIns="0" tIns="0" rIns="0" bIns="0" rtlCol="0" anchor="t"/>
          <a:lstStyle/>
          <a:p>
            <a:pPr indent="0" marL="0">
              <a:buNone/>
            </a:pPr>
            <a:r>
              <a:rPr lang="en-US" sz="1600" dirty="0">
                <a:solidFill>
                  <a:srgbClr val="221F1A"/>
                </a:solidFill>
                <a:latin typeface="Source Serif 4" pitchFamily="34" charset="0"/>
                <a:ea typeface="Source Serif 4" pitchFamily="34" charset="-122"/>
                <a:cs typeface="Source Serif 4" pitchFamily="34" charset="-120"/>
              </a:rPr>
              <a:t>desertpeakinsurance.com</a:t>
            </a:r>
            <a:endParaRPr lang="en-US" sz="1600" dirty="0"/>
          </a:p>
        </p:txBody>
      </p:sp>
      <p:pic>
        <p:nvPicPr>
          <p:cNvPr id="9" name="Image 0" descr="/home/abuhaithem/Documents/dellisandassociates/desert-peak-brand/web/logos/logo-horizontal@2x.png">    </p:cNvPr>
          <p:cNvPicPr>
            <a:picLocks noChangeAspect="1"/>
          </p:cNvPicPr>
          <p:nvPr/>
        </p:nvPicPr>
        <p:blipFill>
          <a:blip r:embed="rId1"/>
          <a:stretch>
            <a:fillRect/>
          </a:stretch>
        </p:blipFill>
        <p:spPr>
          <a:xfrm>
            <a:off x="8534095" y="5669280"/>
            <a:ext cx="3108960" cy="54864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Desert Peak">
      <a:dk1>
        <a:srgbClr val="221F1A"/>
      </a:dk1>
      <a:lt1>
        <a:srgbClr val="FAF4EC"/>
      </a:lt1>
      <a:dk2>
        <a:srgbClr val="605A52"/>
      </a:dk2>
      <a:lt2>
        <a:srgbClr val="F1EAE1"/>
      </a:lt2>
      <a:accent1>
        <a:srgbClr val="923D28"/>
      </a:accent1>
      <a:accent2>
        <a:srgbClr val="9F6C00"/>
      </a:accent2>
      <a:accent3>
        <a:srgbClr val="005243"/>
      </a:accent3>
      <a:accent4>
        <a:srgbClr val="715700"/>
      </a:accent4>
      <a:accent5>
        <a:srgbClr val="610010"/>
      </a:accent5>
      <a:accent6>
        <a:srgbClr val="7C766E"/>
      </a:accent6>
      <a:hlink>
        <a:srgbClr val="923D28"/>
      </a:hlink>
      <a:folHlink>
        <a:srgbClr val="742A18"/>
      </a:folHlink>
    </a:clrScheme>
    <a:fontScheme name="Office">
      <a:majorFont>
        <a:latin typeface="Archivo"/>
        <a:ea typeface=""/>
        <a:cs typeface=""/>
      </a:majorFont>
      <a:minorFont>
        <a:latin typeface="Source Serif 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221F1A">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Desert Peak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Desert Peak Insurance — Coverage review</dc:title>
  <dc:subject>Coverage review</dc:subject>
  <dc:creator>Desert Peak Insurance</dc:creator>
  <cp:lastModifiedBy>Desert Peak Insurance</cp:lastModifiedBy>
  <cp:revision>1</cp:revision>
  <dcterms:created xsi:type="dcterms:W3CDTF">2026-09-13T00:00:00Z</dcterms:created>
  <dcterms:modified xsi:type="dcterms:W3CDTF">2026-09-13T00:00:00Z</dcterms:modified>
</cp:coreProperties>
</file>